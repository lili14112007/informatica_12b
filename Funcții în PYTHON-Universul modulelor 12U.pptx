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2" r:id="rId3"/>
    <p:sldId id="304" r:id="rId4"/>
    <p:sldId id="305" r:id="rId5"/>
    <p:sldId id="306" r:id="rId6"/>
    <p:sldId id="307" r:id="rId7"/>
    <p:sldId id="308" r:id="rId8"/>
    <p:sldId id="309" r:id="rId9"/>
    <p:sldId id="310" r:id="rId10"/>
    <p:sldId id="311" r:id="rId11"/>
    <p:sldId id="312" r:id="rId12"/>
    <p:sldId id="313" r:id="rId13"/>
    <p:sldId id="314" r:id="rId14"/>
    <p:sldId id="315" r:id="rId15"/>
    <p:sldId id="303" r:id="rId16"/>
    <p:sldId id="316" r:id="rId17"/>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96" y="214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07122A06-5B0A-4346-97BE-767C52718168}" type="datetimeFigureOut">
              <a:rPr lang="ru-RU" smtClean="0"/>
              <a:pPr/>
              <a:t>04.11.2025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7122A06-5B0A-4346-97BE-767C52718168}" type="datetimeFigureOut">
              <a:rPr lang="ru-RU" smtClean="0"/>
              <a:pPr/>
              <a:t>04.11.2025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07122A06-5B0A-4346-97BE-767C52718168}" type="datetimeFigureOut">
              <a:rPr lang="ru-RU" smtClean="0"/>
              <a:pPr/>
              <a:t>04.11.2025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07122A06-5B0A-4346-97BE-767C52718168}" type="datetimeFigureOut">
              <a:rPr lang="ru-RU" smtClean="0"/>
              <a:pPr/>
              <a:t>04.11.2025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07122A06-5B0A-4346-97BE-767C52718168}" type="datetimeFigureOut">
              <a:rPr lang="ru-RU" smtClean="0"/>
              <a:pPr/>
              <a:t>04.11.2025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07122A06-5B0A-4346-97BE-767C52718168}" type="datetimeFigureOut">
              <a:rPr lang="ru-RU" smtClean="0"/>
              <a:pPr/>
              <a:t>04.11.2025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7122A06-5B0A-4346-97BE-767C52718168}" type="datetimeFigureOut">
              <a:rPr lang="ru-RU" smtClean="0"/>
              <a:pPr/>
              <a:t>04.11.2025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7122A06-5B0A-4346-97BE-767C52718168}" type="datetimeFigureOut">
              <a:rPr lang="ru-RU" smtClean="0"/>
              <a:pPr/>
              <a:t>04.11.2025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07122A06-5B0A-4346-97BE-767C52718168}" type="datetimeFigureOut">
              <a:rPr lang="ru-RU" smtClean="0"/>
              <a:pPr/>
              <a:t>04.11.2025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7122A06-5B0A-4346-97BE-767C52718168}" type="datetimeFigureOut">
              <a:rPr lang="ru-RU" smtClean="0"/>
              <a:pPr/>
              <a:t>04.11.2025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07122A06-5B0A-4346-97BE-767C52718168}" type="datetimeFigureOut">
              <a:rPr lang="ru-RU" smtClean="0"/>
              <a:pPr/>
              <a:t>04.11.2025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3622971-6BEF-4386-8415-603E6D58E8FA}"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122A06-5B0A-4346-97BE-767C52718168}" type="datetimeFigureOut">
              <a:rPr lang="ru-RU" smtClean="0"/>
              <a:pPr/>
              <a:t>04.11.2025</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622971-6BEF-4386-8415-603E6D58E8FA}"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docs.python.org/3/librar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docs.python.org/3/py-modindex.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28600" y="2971800"/>
            <a:ext cx="8686800" cy="2133600"/>
          </a:xfrm>
        </p:spPr>
        <p:txBody>
          <a:bodyPr>
            <a:noAutofit/>
          </a:bodyPr>
          <a:lstStyle/>
          <a:p>
            <a:r>
              <a:rPr lang="ro-RO" sz="4800" dirty="0" smtClean="0">
                <a:solidFill>
                  <a:schemeClr val="accent1">
                    <a:lumMod val="75000"/>
                  </a:schemeClr>
                </a:solidFill>
                <a:latin typeface="Times New Roman" pitchFamily="18" charset="0"/>
                <a:cs typeface="Times New Roman" pitchFamily="18" charset="0"/>
              </a:rPr>
              <a:t>FUNCȚII</a:t>
            </a:r>
            <a:r>
              <a:rPr lang="en-US" sz="4800" dirty="0" smtClean="0">
                <a:solidFill>
                  <a:schemeClr val="accent1">
                    <a:lumMod val="75000"/>
                  </a:schemeClr>
                </a:solidFill>
                <a:latin typeface="Times New Roman" pitchFamily="18" charset="0"/>
                <a:cs typeface="Times New Roman" pitchFamily="18" charset="0"/>
              </a:rPr>
              <a:t> </a:t>
            </a:r>
            <a:r>
              <a:rPr lang="ro-MO" sz="4800" dirty="0" smtClean="0">
                <a:solidFill>
                  <a:schemeClr val="accent1">
                    <a:lumMod val="75000"/>
                  </a:schemeClr>
                </a:solidFill>
                <a:latin typeface="Times New Roman" pitchFamily="18" charset="0"/>
                <a:cs typeface="Times New Roman" pitchFamily="18" charset="0"/>
              </a:rPr>
              <a:t>în PYTHON</a:t>
            </a:r>
            <a:br>
              <a:rPr lang="ro-MO" sz="4800" dirty="0" smtClean="0">
                <a:solidFill>
                  <a:schemeClr val="accent1">
                    <a:lumMod val="75000"/>
                  </a:schemeClr>
                </a:solidFill>
                <a:latin typeface="Times New Roman" pitchFamily="18" charset="0"/>
                <a:cs typeface="Times New Roman" pitchFamily="18" charset="0"/>
              </a:rPr>
            </a:br>
            <a:r>
              <a:rPr lang="ro-MO" sz="4800" dirty="0" smtClean="0">
                <a:solidFill>
                  <a:schemeClr val="accent1">
                    <a:lumMod val="75000"/>
                  </a:schemeClr>
                </a:solidFill>
                <a:latin typeface="Times New Roman" pitchFamily="18" charset="0"/>
                <a:cs typeface="Times New Roman" pitchFamily="18" charset="0"/>
              </a:rPr>
              <a:t>- Universul modulelor</a:t>
            </a:r>
            <a:br>
              <a:rPr lang="ro-MO" sz="4800" dirty="0" smtClean="0">
                <a:solidFill>
                  <a:schemeClr val="accent1">
                    <a:lumMod val="75000"/>
                  </a:schemeClr>
                </a:solidFill>
                <a:latin typeface="Times New Roman" pitchFamily="18" charset="0"/>
                <a:cs typeface="Times New Roman" pitchFamily="18" charset="0"/>
              </a:rPr>
            </a:br>
            <a:r>
              <a:rPr lang="ro-MO" sz="4800" dirty="0" smtClean="0">
                <a:solidFill>
                  <a:schemeClr val="accent1">
                    <a:lumMod val="75000"/>
                  </a:schemeClr>
                </a:solidFill>
                <a:latin typeface="Times New Roman" pitchFamily="18" charset="0"/>
                <a:cs typeface="Times New Roman" pitchFamily="18" charset="0"/>
              </a:rPr>
              <a:t>(Random, Randint, Choice, Seed)</a:t>
            </a:r>
            <a:r>
              <a:rPr lang="ro-MO" sz="4800" u="sng" dirty="0" smtClean="0"/>
              <a:t/>
            </a:r>
            <a:br>
              <a:rPr lang="ro-MO" sz="4800" u="sng" dirty="0" smtClean="0"/>
            </a:br>
            <a:r>
              <a:rPr lang="ro-MO" sz="4800" dirty="0" smtClean="0"/>
              <a:t/>
            </a:r>
            <a:br>
              <a:rPr lang="ro-MO" sz="4800" dirty="0" smtClean="0"/>
            </a:br>
            <a:endParaRPr lang="ru-RU" sz="4800" dirty="0"/>
          </a:p>
        </p:txBody>
      </p:sp>
      <p:pic>
        <p:nvPicPr>
          <p:cNvPr id="4" name="Google Shape;56;p13"/>
          <p:cNvPicPr preferRelativeResize="0"/>
          <p:nvPr/>
        </p:nvPicPr>
        <p:blipFill>
          <a:blip r:embed="rId2" cstate="print">
            <a:alphaModFix/>
          </a:blip>
          <a:stretch>
            <a:fillRect/>
          </a:stretch>
        </p:blipFill>
        <p:spPr>
          <a:xfrm>
            <a:off x="7162800" y="152400"/>
            <a:ext cx="1747550" cy="1892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914400"/>
          </a:xfrm>
        </p:spPr>
        <p:txBody>
          <a:bodyPr>
            <a:normAutofit/>
          </a:bodyPr>
          <a:lstStyle/>
          <a:p>
            <a:r>
              <a:rPr lang="en-US" sz="3600" b="1" dirty="0" smtClean="0">
                <a:solidFill>
                  <a:schemeClr val="accent6">
                    <a:lumMod val="50000"/>
                  </a:schemeClr>
                </a:solidFill>
              </a:rPr>
              <a:t>UNIVERSUL MODULELOR </a:t>
            </a:r>
            <a:endParaRPr lang="en-US" sz="3600" b="1" dirty="0">
              <a:solidFill>
                <a:schemeClr val="accent6">
                  <a:lumMod val="50000"/>
                </a:schemeClr>
              </a:solidFill>
            </a:endParaRPr>
          </a:p>
        </p:txBody>
      </p:sp>
      <p:sp>
        <p:nvSpPr>
          <p:cNvPr id="5" name="TextBox 4"/>
          <p:cNvSpPr txBox="1"/>
          <p:nvPr/>
        </p:nvSpPr>
        <p:spPr>
          <a:xfrm>
            <a:off x="0" y="685800"/>
            <a:ext cx="9144000" cy="6001643"/>
          </a:xfrm>
          <a:prstGeom prst="rect">
            <a:avLst/>
          </a:prstGeom>
          <a:noFill/>
        </p:spPr>
        <p:txBody>
          <a:bodyPr wrap="square" rtlCol="0">
            <a:spAutoFit/>
          </a:bodyPr>
          <a:lstStyle/>
          <a:p>
            <a:endParaRPr lang="ro-RO" sz="2400" b="1" dirty="0" smtClean="0">
              <a:solidFill>
                <a:schemeClr val="accent6">
                  <a:lumMod val="50000"/>
                </a:schemeClr>
              </a:solidFill>
            </a:endParaRPr>
          </a:p>
          <a:p>
            <a:pPr algn="just"/>
            <a:r>
              <a:rPr lang="ro-MO" sz="2400" dirty="0" smtClean="0"/>
              <a:t>	</a:t>
            </a:r>
            <a:r>
              <a:rPr lang="vi-VN" sz="2400" dirty="0" smtClean="0"/>
              <a:t>Setul de funcții pe care îl conține implicit limbajul Python nu este foarte mare, însă acesta este extins prin </a:t>
            </a:r>
            <a:r>
              <a:rPr lang="vi-VN" sz="2400" b="1" dirty="0" smtClean="0"/>
              <a:t>module</a:t>
            </a:r>
            <a:r>
              <a:rPr lang="vi-VN" sz="2400" dirty="0" smtClean="0"/>
              <a:t> (</a:t>
            </a:r>
            <a:r>
              <a:rPr lang="vi-VN" sz="2400" i="1" dirty="0" smtClean="0"/>
              <a:t>colecții de funcții</a:t>
            </a:r>
            <a:r>
              <a:rPr lang="vi-VN" sz="2400" dirty="0" smtClean="0"/>
              <a:t>, numite în alte limbaje, </a:t>
            </a:r>
            <a:r>
              <a:rPr lang="vi-VN" sz="2400" i="1" dirty="0" smtClean="0"/>
              <a:t>biblioteci</a:t>
            </a:r>
            <a:r>
              <a:rPr lang="vi-VN" sz="2400" dirty="0" smtClean="0"/>
              <a:t>). </a:t>
            </a:r>
            <a:r>
              <a:rPr lang="ro-MO" sz="2400" dirty="0" smtClean="0"/>
              <a:t>Ş</a:t>
            </a:r>
            <a:r>
              <a:rPr lang="vi-VN" sz="2400" dirty="0" smtClean="0"/>
              <a:t>i voi puteți crea module personale salvând funcțiile dezvoltate într-un fișier separat cu extensia "</a:t>
            </a:r>
            <a:r>
              <a:rPr lang="vi-VN" sz="2400" b="1" dirty="0" smtClean="0"/>
              <a:t>py</a:t>
            </a:r>
            <a:r>
              <a:rPr lang="vi-VN" sz="2400" dirty="0" smtClean="0"/>
              <a:t>".</a:t>
            </a:r>
            <a:endParaRPr lang="ro-MO" sz="2400" dirty="0" smtClean="0"/>
          </a:p>
          <a:p>
            <a:pPr algn="just"/>
            <a:r>
              <a:rPr lang="vi-VN" sz="2400" dirty="0" smtClean="0"/>
              <a:t> </a:t>
            </a:r>
            <a:br>
              <a:rPr lang="vi-VN" sz="2400" dirty="0" smtClean="0"/>
            </a:br>
            <a:r>
              <a:rPr lang="ro-MO" sz="2400" dirty="0" smtClean="0"/>
              <a:t>	</a:t>
            </a:r>
            <a:r>
              <a:rPr lang="vi-VN" sz="2400" dirty="0" smtClean="0"/>
              <a:t>Modulele pe care le vom prezenta fac parte din </a:t>
            </a:r>
            <a:r>
              <a:rPr lang="vi-VN" sz="2400" i="1" dirty="0" smtClean="0"/>
              <a:t>biblioteca standard</a:t>
            </a:r>
            <a:r>
              <a:rPr lang="vi-VN" sz="2400" dirty="0" smtClean="0"/>
              <a:t> a limbajului Python, numită în engleză </a:t>
            </a:r>
            <a:r>
              <a:rPr lang="vi-VN" sz="2400" b="1" dirty="0" smtClean="0"/>
              <a:t>Python Standard Library</a:t>
            </a:r>
            <a:r>
              <a:rPr lang="vi-VN" sz="2400" dirty="0" smtClean="0"/>
              <a:t>, care conține o multitudine de alte module utile: </a:t>
            </a:r>
            <a:endParaRPr lang="ro-MO" sz="2400" dirty="0" smtClean="0"/>
          </a:p>
          <a:p>
            <a:pPr algn="just"/>
            <a:endParaRPr lang="ro-MO" sz="2400" dirty="0" smtClean="0"/>
          </a:p>
          <a:p>
            <a:pPr algn="ctr"/>
            <a:r>
              <a:rPr lang="en-US" sz="2400" b="1" dirty="0" smtClean="0">
                <a:hlinkClick r:id="rId2"/>
              </a:rPr>
              <a:t>https://docs.python.org/3/library/</a:t>
            </a:r>
            <a:endParaRPr lang="ro-MO" sz="2400" b="1" dirty="0" smtClean="0"/>
          </a:p>
          <a:p>
            <a:pPr algn="just"/>
            <a:r>
              <a:rPr lang="ro-MO" sz="2400" dirty="0" smtClean="0"/>
              <a:t>	</a:t>
            </a:r>
            <a:r>
              <a:rPr lang="vi-VN" sz="2400" dirty="0" smtClean="0"/>
              <a:t>Nu avem cum să le analizăm pe toate aici, ci trebuie doar să știm de existența acestora și în caz de nevoie, să ne documentăm corespunzător, apoi să folosim subrutinele unui anume modul care ne pot fi de folos! </a:t>
            </a:r>
            <a:endParaRPr lang="ru-RU"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914400"/>
          </a:xfrm>
        </p:spPr>
        <p:txBody>
          <a:bodyPr>
            <a:normAutofit/>
          </a:bodyPr>
          <a:lstStyle/>
          <a:p>
            <a:r>
              <a:rPr lang="en-US" sz="3600" b="1" dirty="0" smtClean="0">
                <a:solidFill>
                  <a:schemeClr val="accent6">
                    <a:lumMod val="50000"/>
                  </a:schemeClr>
                </a:solidFill>
              </a:rPr>
              <a:t>MODULUL RANDOM</a:t>
            </a:r>
            <a:endParaRPr lang="en-US" sz="3600" b="1" dirty="0">
              <a:solidFill>
                <a:schemeClr val="accent6">
                  <a:lumMod val="50000"/>
                </a:schemeClr>
              </a:solidFill>
            </a:endParaRPr>
          </a:p>
        </p:txBody>
      </p:sp>
      <p:sp>
        <p:nvSpPr>
          <p:cNvPr id="5" name="TextBox 4"/>
          <p:cNvSpPr txBox="1"/>
          <p:nvPr/>
        </p:nvSpPr>
        <p:spPr>
          <a:xfrm>
            <a:off x="0" y="685800"/>
            <a:ext cx="9144000" cy="5262979"/>
          </a:xfrm>
          <a:prstGeom prst="rect">
            <a:avLst/>
          </a:prstGeom>
          <a:noFill/>
        </p:spPr>
        <p:txBody>
          <a:bodyPr wrap="square" rtlCol="0">
            <a:spAutoFit/>
          </a:bodyPr>
          <a:lstStyle/>
          <a:p>
            <a:endParaRPr lang="ro-RO" sz="2400" b="1" dirty="0" smtClean="0">
              <a:solidFill>
                <a:schemeClr val="accent6">
                  <a:lumMod val="50000"/>
                </a:schemeClr>
              </a:solidFill>
            </a:endParaRPr>
          </a:p>
          <a:p>
            <a:pPr algn="just"/>
            <a:r>
              <a:rPr lang="vi-VN" sz="2400" dirty="0" smtClean="0"/>
              <a:t>Jocurile pe calculator conțin numere la întâmplare, numite </a:t>
            </a:r>
            <a:r>
              <a:rPr lang="vi-VN" sz="2400" b="1" dirty="0" smtClean="0"/>
              <a:t>aleatoare</a:t>
            </a:r>
            <a:r>
              <a:rPr lang="vi-VN" sz="2400" dirty="0" smtClean="0"/>
              <a:t>, astfel încât de fiecare dată pare că totul este altfel, </a:t>
            </a:r>
            <a:r>
              <a:rPr lang="vi-VN" sz="2400" i="1" dirty="0" smtClean="0"/>
              <a:t>un nou scenariu</a:t>
            </a:r>
            <a:r>
              <a:rPr lang="vi-VN" sz="2400" dirty="0" smtClean="0"/>
              <a:t>, un nou set de culori, bile ori inamici care apar din poziții diferite.</a:t>
            </a:r>
            <a:endParaRPr lang="ro-MO" sz="2400" dirty="0" smtClean="0"/>
          </a:p>
          <a:p>
            <a:pPr algn="just"/>
            <a:r>
              <a:rPr lang="vi-VN" sz="2400" dirty="0" smtClean="0"/>
              <a:t> </a:t>
            </a:r>
            <a:br>
              <a:rPr lang="vi-VN" sz="2400" dirty="0" smtClean="0"/>
            </a:br>
            <a:r>
              <a:rPr lang="vi-VN" sz="2400" dirty="0" smtClean="0"/>
              <a:t>Un </a:t>
            </a:r>
            <a:r>
              <a:rPr lang="vi-VN" sz="2400" b="1" dirty="0" smtClean="0"/>
              <a:t>număr aleator</a:t>
            </a:r>
            <a:r>
              <a:rPr lang="vi-VN" sz="2400" dirty="0" smtClean="0"/>
              <a:t> este în esență unul care nu poate fi prezis de utilizator. De fapt, în spate există </a:t>
            </a:r>
            <a:r>
              <a:rPr lang="vi-VN" sz="2400" b="1" dirty="0" smtClean="0"/>
              <a:t>un generator</a:t>
            </a:r>
            <a:r>
              <a:rPr lang="vi-VN" sz="2400" dirty="0" smtClean="0"/>
              <a:t> (</a:t>
            </a:r>
            <a:r>
              <a:rPr lang="vi-VN" sz="2400" b="1" dirty="0" smtClean="0"/>
              <a:t>o funcție</a:t>
            </a:r>
            <a:r>
              <a:rPr lang="vi-VN" sz="2400" dirty="0" smtClean="0"/>
              <a:t>) care ne oferă la fiecare apelare un astfel de număr. Ele sunt </a:t>
            </a:r>
            <a:r>
              <a:rPr lang="vi-VN" sz="2400" i="1" dirty="0" smtClean="0"/>
              <a:t>pseudo-aleatoare</a:t>
            </a:r>
            <a:r>
              <a:rPr lang="vi-VN" sz="2400" dirty="0" smtClean="0"/>
              <a:t>, în sensul că sunt create în urma unor </a:t>
            </a:r>
            <a:r>
              <a:rPr lang="vi-VN" sz="2400" i="1" dirty="0" smtClean="0"/>
              <a:t>calcule matematice complexe</a:t>
            </a:r>
            <a:r>
              <a:rPr lang="vi-VN" sz="2400" dirty="0" smtClean="0"/>
              <a:t>. </a:t>
            </a:r>
            <a:endParaRPr lang="ro-MO" sz="2400" dirty="0" smtClean="0"/>
          </a:p>
          <a:p>
            <a:pPr algn="just"/>
            <a:endParaRPr lang="ro-MO" sz="2400" dirty="0" smtClean="0"/>
          </a:p>
          <a:p>
            <a:pPr algn="just"/>
            <a:r>
              <a:rPr lang="en-US" sz="2400" dirty="0" err="1" smtClean="0"/>
              <a:t>Unul</a:t>
            </a:r>
            <a:r>
              <a:rPr lang="en-US" sz="2400" dirty="0" smtClean="0"/>
              <a:t> </a:t>
            </a:r>
            <a:r>
              <a:rPr lang="en-US" sz="2400" dirty="0" err="1" smtClean="0"/>
              <a:t>dintre</a:t>
            </a:r>
            <a:r>
              <a:rPr lang="en-US" sz="2400" dirty="0" smtClean="0"/>
              <a:t> </a:t>
            </a:r>
            <a:r>
              <a:rPr lang="en-US" sz="2400" dirty="0" err="1" smtClean="0"/>
              <a:t>acestea</a:t>
            </a:r>
            <a:r>
              <a:rPr lang="en-US" sz="2400" dirty="0" smtClean="0"/>
              <a:t> </a:t>
            </a:r>
            <a:r>
              <a:rPr lang="en-US" sz="2400" dirty="0" err="1" smtClean="0"/>
              <a:t>este</a:t>
            </a:r>
            <a:r>
              <a:rPr lang="en-US" sz="2400" dirty="0" smtClean="0"/>
              <a:t> </a:t>
            </a:r>
            <a:r>
              <a:rPr lang="en-US" sz="2400" b="1" dirty="0" smtClean="0"/>
              <a:t>random</a:t>
            </a:r>
            <a:r>
              <a:rPr lang="en-US" sz="2400" dirty="0" smtClean="0"/>
              <a:t>, </a:t>
            </a:r>
            <a:r>
              <a:rPr lang="en-US" sz="2400" dirty="0" err="1" smtClean="0"/>
              <a:t>creat</a:t>
            </a:r>
            <a:r>
              <a:rPr lang="en-US" sz="2400" dirty="0" smtClean="0"/>
              <a:t> special </a:t>
            </a:r>
            <a:r>
              <a:rPr lang="en-US" sz="2400" dirty="0" err="1" smtClean="0"/>
              <a:t>pentru</a:t>
            </a:r>
            <a:r>
              <a:rPr lang="en-US" sz="2400" dirty="0" smtClean="0"/>
              <a:t> a </a:t>
            </a:r>
            <a:r>
              <a:rPr lang="en-US" sz="2400" i="1" dirty="0" smtClean="0"/>
              <a:t>genera </a:t>
            </a:r>
            <a:r>
              <a:rPr lang="en-US" sz="2400" i="1" dirty="0" err="1" smtClean="0"/>
              <a:t>numere</a:t>
            </a:r>
            <a:r>
              <a:rPr lang="en-US" sz="2400" i="1" dirty="0" smtClean="0"/>
              <a:t> </a:t>
            </a:r>
            <a:r>
              <a:rPr lang="en-US" sz="2400" i="1" dirty="0" err="1" smtClean="0"/>
              <a:t>aleatoare</a:t>
            </a:r>
            <a:r>
              <a:rPr lang="en-US" sz="2400" dirty="0" smtClean="0"/>
              <a:t>. </a:t>
            </a:r>
            <a:endParaRPr lang="ru-RU"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914400"/>
          </a:xfrm>
        </p:spPr>
        <p:txBody>
          <a:bodyPr>
            <a:normAutofit/>
          </a:bodyPr>
          <a:lstStyle/>
          <a:p>
            <a:r>
              <a:rPr lang="en-US" sz="3600" b="1" dirty="0" smtClean="0">
                <a:solidFill>
                  <a:schemeClr val="accent6">
                    <a:lumMod val="50000"/>
                  </a:schemeClr>
                </a:solidFill>
              </a:rPr>
              <a:t>MODULUL RANDOM</a:t>
            </a:r>
            <a:r>
              <a:rPr lang="ro-MO" sz="3600" b="1" dirty="0" smtClean="0">
                <a:solidFill>
                  <a:schemeClr val="accent6">
                    <a:lumMod val="50000"/>
                  </a:schemeClr>
                </a:solidFill>
              </a:rPr>
              <a:t>- funcţia RANDOM</a:t>
            </a:r>
            <a:endParaRPr lang="en-US" sz="3600" b="1" dirty="0">
              <a:solidFill>
                <a:schemeClr val="accent6">
                  <a:lumMod val="50000"/>
                </a:schemeClr>
              </a:solidFill>
            </a:endParaRPr>
          </a:p>
        </p:txBody>
      </p:sp>
      <p:sp>
        <p:nvSpPr>
          <p:cNvPr id="5" name="TextBox 4"/>
          <p:cNvSpPr txBox="1"/>
          <p:nvPr/>
        </p:nvSpPr>
        <p:spPr>
          <a:xfrm>
            <a:off x="0" y="685800"/>
            <a:ext cx="9144000" cy="6001643"/>
          </a:xfrm>
          <a:prstGeom prst="rect">
            <a:avLst/>
          </a:prstGeom>
          <a:noFill/>
        </p:spPr>
        <p:txBody>
          <a:bodyPr wrap="square" rtlCol="0">
            <a:spAutoFit/>
          </a:bodyPr>
          <a:lstStyle/>
          <a:p>
            <a:pPr algn="just"/>
            <a:r>
              <a:rPr lang="vi-VN" sz="2400" dirty="0" smtClean="0"/>
              <a:t>Pentru a putea folosi funcțiile sale, la începutul programului vom scrie "</a:t>
            </a:r>
            <a:r>
              <a:rPr lang="vi-VN" sz="2400" b="1" dirty="0" smtClean="0"/>
              <a:t>import random</a:t>
            </a:r>
            <a:r>
              <a:rPr lang="vi-VN" sz="2400" dirty="0" smtClean="0"/>
              <a:t>", care încarcă modulul și ne oferă acces la el: </a:t>
            </a:r>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r>
              <a:rPr lang="vi-VN" sz="2400" dirty="0" smtClean="0"/>
              <a:t>Am importat modulul </a:t>
            </a:r>
            <a:r>
              <a:rPr lang="vi-VN" sz="2400" b="1" dirty="0" smtClean="0"/>
              <a:t>random</a:t>
            </a:r>
            <a:r>
              <a:rPr lang="vi-VN" sz="2400" dirty="0" smtClean="0"/>
              <a:t>, apoi am tipărit seturi de câte cinci numere aleatoare folosind instrucțiunea </a:t>
            </a:r>
            <a:r>
              <a:rPr lang="vi-VN" sz="2400" b="1" dirty="0" smtClean="0"/>
              <a:t>for</a:t>
            </a:r>
            <a:r>
              <a:rPr lang="vi-VN" sz="2400" dirty="0" smtClean="0"/>
              <a:t> pentru iterații. </a:t>
            </a:r>
            <a:br>
              <a:rPr lang="vi-VN" sz="2400" dirty="0" smtClean="0"/>
            </a:br>
            <a:r>
              <a:rPr lang="vi-VN" sz="2400" dirty="0" smtClean="0"/>
              <a:t>Pentru a apela o funcție din cadrul unui modul, scriem: </a:t>
            </a:r>
            <a:br>
              <a:rPr lang="vi-VN" sz="2400" dirty="0" smtClean="0"/>
            </a:br>
            <a:r>
              <a:rPr lang="vi-VN" sz="2400" b="1" dirty="0" smtClean="0">
                <a:solidFill>
                  <a:srgbClr val="FF0000"/>
                </a:solidFill>
              </a:rPr>
              <a:t>nume_modul.funcția_dorită</a:t>
            </a:r>
            <a:r>
              <a:rPr lang="vi-VN" sz="2400" dirty="0" smtClean="0"/>
              <a:t> </a:t>
            </a:r>
            <a:br>
              <a:rPr lang="vi-VN" sz="2400" dirty="0" smtClean="0"/>
            </a:br>
            <a:r>
              <a:rPr lang="vi-VN" sz="2400" dirty="0" smtClean="0"/>
              <a:t>Prima oară am folosit chiar funcția </a:t>
            </a:r>
            <a:r>
              <a:rPr lang="vi-VN" sz="2400" b="1" dirty="0" smtClean="0"/>
              <a:t>random()</a:t>
            </a:r>
            <a:r>
              <a:rPr lang="vi-VN" sz="2400" dirty="0" smtClean="0"/>
              <a:t>, care generează </a:t>
            </a:r>
            <a:r>
              <a:rPr lang="vi-VN" sz="2400" i="1" dirty="0" smtClean="0"/>
              <a:t>un număr real</a:t>
            </a:r>
            <a:r>
              <a:rPr lang="vi-VN" sz="2400" dirty="0" smtClean="0"/>
              <a:t>, de tip </a:t>
            </a:r>
            <a:r>
              <a:rPr lang="vi-VN" sz="2400" b="1" dirty="0" smtClean="0"/>
              <a:t>float</a:t>
            </a:r>
            <a:r>
              <a:rPr lang="vi-VN" sz="2400" dirty="0" smtClean="0"/>
              <a:t>, în intervalul </a:t>
            </a:r>
            <a:r>
              <a:rPr lang="vi-VN" sz="2400" b="1" dirty="0" smtClean="0"/>
              <a:t>[0.0, 1.0)</a:t>
            </a:r>
            <a:r>
              <a:rPr lang="vi-VN" sz="2400" dirty="0" smtClean="0"/>
              <a:t> – funcția nu acceptă parametri. </a:t>
            </a:r>
            <a:endParaRPr lang="ru-RU" sz="2400" dirty="0"/>
          </a:p>
        </p:txBody>
      </p:sp>
      <p:pic>
        <p:nvPicPr>
          <p:cNvPr id="1026" name="Picture 2"/>
          <p:cNvPicPr>
            <a:picLocks noChangeAspect="1" noChangeArrowheads="1"/>
          </p:cNvPicPr>
          <p:nvPr/>
        </p:nvPicPr>
        <p:blipFill>
          <a:blip r:embed="rId2" cstate="print"/>
          <a:srcRect/>
          <a:stretch>
            <a:fillRect/>
          </a:stretch>
        </p:blipFill>
        <p:spPr bwMode="auto">
          <a:xfrm>
            <a:off x="304799" y="1905000"/>
            <a:ext cx="8368841" cy="175260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914400"/>
          </a:xfrm>
        </p:spPr>
        <p:txBody>
          <a:bodyPr>
            <a:normAutofit/>
          </a:bodyPr>
          <a:lstStyle/>
          <a:p>
            <a:r>
              <a:rPr lang="en-US" sz="3600" b="1" dirty="0" smtClean="0">
                <a:solidFill>
                  <a:schemeClr val="accent6">
                    <a:lumMod val="50000"/>
                  </a:schemeClr>
                </a:solidFill>
              </a:rPr>
              <a:t>MODULUL RANDOM</a:t>
            </a:r>
            <a:r>
              <a:rPr lang="ro-MO" sz="3600" b="1" dirty="0" smtClean="0">
                <a:solidFill>
                  <a:schemeClr val="accent6">
                    <a:lumMod val="50000"/>
                  </a:schemeClr>
                </a:solidFill>
              </a:rPr>
              <a:t>- funcţia RANDOM</a:t>
            </a:r>
            <a:endParaRPr lang="en-US" sz="3600" b="1" dirty="0">
              <a:solidFill>
                <a:schemeClr val="accent6">
                  <a:lumMod val="50000"/>
                </a:schemeClr>
              </a:solidFill>
            </a:endParaRPr>
          </a:p>
        </p:txBody>
      </p:sp>
      <p:sp>
        <p:nvSpPr>
          <p:cNvPr id="5" name="TextBox 4"/>
          <p:cNvSpPr txBox="1"/>
          <p:nvPr/>
        </p:nvSpPr>
        <p:spPr>
          <a:xfrm>
            <a:off x="0" y="685800"/>
            <a:ext cx="9144000" cy="5262979"/>
          </a:xfrm>
          <a:prstGeom prst="rect">
            <a:avLst/>
          </a:prstGeom>
          <a:noFill/>
        </p:spPr>
        <p:txBody>
          <a:bodyPr wrap="square" rtlCol="0">
            <a:spAutoFit/>
          </a:bodyPr>
          <a:lstStyle/>
          <a:p>
            <a:pPr algn="just"/>
            <a:endParaRPr lang="ro-MO" sz="2400" dirty="0" smtClean="0"/>
          </a:p>
          <a:p>
            <a:pPr algn="just"/>
            <a:r>
              <a:rPr lang="vi-VN" sz="2400" dirty="0" smtClean="0"/>
              <a:t>Bineînțeles, nu ne prea ajută aceste numere... Cum putem însă afișa </a:t>
            </a:r>
            <a:r>
              <a:rPr lang="vi-VN" sz="2400" u="sng" dirty="0" smtClean="0">
                <a:solidFill>
                  <a:srgbClr val="FF0000"/>
                </a:solidFill>
              </a:rPr>
              <a:t>numere aleatoare întregi</a:t>
            </a:r>
            <a:r>
              <a:rPr lang="vi-VN" sz="2400" dirty="0" smtClean="0">
                <a:solidFill>
                  <a:srgbClr val="FF0000"/>
                </a:solidFill>
              </a:rPr>
              <a:t> </a:t>
            </a:r>
            <a:r>
              <a:rPr lang="vi-VN" sz="2400" dirty="0" smtClean="0"/>
              <a:t>între </a:t>
            </a:r>
            <a:r>
              <a:rPr lang="vi-VN" sz="2400" b="1" dirty="0" smtClean="0"/>
              <a:t>0</a:t>
            </a:r>
            <a:r>
              <a:rPr lang="vi-VN" sz="2400" dirty="0" smtClean="0"/>
              <a:t> și </a:t>
            </a:r>
            <a:r>
              <a:rPr lang="vi-VN" sz="2400" b="1" dirty="0" smtClean="0"/>
              <a:t>100</a:t>
            </a:r>
            <a:r>
              <a:rPr lang="vi-VN" sz="2400" dirty="0" smtClean="0"/>
              <a:t>? </a:t>
            </a:r>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r>
              <a:rPr lang="vi-VN" sz="2400" dirty="0" smtClean="0"/>
              <a:t>Dacă a fost generat </a:t>
            </a:r>
            <a:r>
              <a:rPr lang="vi-VN" sz="2400" b="1" dirty="0" smtClean="0"/>
              <a:t>0.</a:t>
            </a:r>
            <a:r>
              <a:rPr lang="ro-MO" sz="2400" b="1" dirty="0" smtClean="0"/>
              <a:t>59234</a:t>
            </a:r>
            <a:r>
              <a:rPr lang="vi-VN" sz="2400" dirty="0" smtClean="0"/>
              <a:t>... Înmulțindu-l cu </a:t>
            </a:r>
            <a:r>
              <a:rPr lang="vi-VN" sz="2400" b="1" dirty="0" smtClean="0"/>
              <a:t>100</a:t>
            </a:r>
            <a:r>
              <a:rPr lang="vi-VN" sz="2400" dirty="0" smtClean="0"/>
              <a:t>, se obține </a:t>
            </a:r>
            <a:r>
              <a:rPr lang="ro-MO" sz="2400" b="1" dirty="0" smtClean="0"/>
              <a:t>59.234</a:t>
            </a:r>
            <a:r>
              <a:rPr lang="vi-VN" sz="2400" dirty="0" smtClean="0"/>
              <a:t>, care apoi rotunjit spre un număr întreg devine </a:t>
            </a:r>
            <a:r>
              <a:rPr lang="ro-MO" sz="2400" b="1" dirty="0" smtClean="0"/>
              <a:t>59</a:t>
            </a:r>
            <a:r>
              <a:rPr lang="vi-VN" sz="2400" dirty="0" smtClean="0"/>
              <a:t>. </a:t>
            </a:r>
            <a:endParaRPr lang="ro-MO" sz="2400" dirty="0" smtClean="0"/>
          </a:p>
          <a:p>
            <a:pPr algn="just"/>
            <a:endParaRPr lang="ru-RU" sz="2400" dirty="0"/>
          </a:p>
        </p:txBody>
      </p:sp>
      <p:pic>
        <p:nvPicPr>
          <p:cNvPr id="2050" name="Picture 2"/>
          <p:cNvPicPr>
            <a:picLocks noChangeAspect="1" noChangeArrowheads="1"/>
          </p:cNvPicPr>
          <p:nvPr/>
        </p:nvPicPr>
        <p:blipFill>
          <a:blip r:embed="rId2" cstate="print"/>
          <a:srcRect/>
          <a:stretch>
            <a:fillRect/>
          </a:stretch>
        </p:blipFill>
        <p:spPr bwMode="auto">
          <a:xfrm>
            <a:off x="457200" y="2362200"/>
            <a:ext cx="8089158" cy="22098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914400"/>
          </a:xfrm>
        </p:spPr>
        <p:txBody>
          <a:bodyPr>
            <a:normAutofit/>
          </a:bodyPr>
          <a:lstStyle/>
          <a:p>
            <a:r>
              <a:rPr lang="en-US" sz="3600" b="1" dirty="0" smtClean="0">
                <a:solidFill>
                  <a:schemeClr val="accent6">
                    <a:lumMod val="50000"/>
                  </a:schemeClr>
                </a:solidFill>
              </a:rPr>
              <a:t>MODULUL RANDOM</a:t>
            </a:r>
            <a:r>
              <a:rPr lang="ro-MO" sz="3600" b="1" dirty="0" smtClean="0">
                <a:solidFill>
                  <a:schemeClr val="accent6">
                    <a:lumMod val="50000"/>
                  </a:schemeClr>
                </a:solidFill>
              </a:rPr>
              <a:t>- funcţia RANDOM</a:t>
            </a:r>
            <a:endParaRPr lang="en-US" sz="3600" b="1" dirty="0">
              <a:solidFill>
                <a:schemeClr val="accent6">
                  <a:lumMod val="50000"/>
                </a:schemeClr>
              </a:solidFill>
            </a:endParaRPr>
          </a:p>
        </p:txBody>
      </p:sp>
      <p:sp>
        <p:nvSpPr>
          <p:cNvPr id="5" name="TextBox 4"/>
          <p:cNvSpPr txBox="1"/>
          <p:nvPr/>
        </p:nvSpPr>
        <p:spPr>
          <a:xfrm>
            <a:off x="0" y="685800"/>
            <a:ext cx="9144000" cy="4524315"/>
          </a:xfrm>
          <a:prstGeom prst="rect">
            <a:avLst/>
          </a:prstGeom>
          <a:noFill/>
        </p:spPr>
        <p:txBody>
          <a:bodyPr wrap="square" rtlCol="0">
            <a:spAutoFit/>
          </a:bodyPr>
          <a:lstStyle/>
          <a:p>
            <a:pPr algn="just"/>
            <a:endParaRPr lang="ro-MO" sz="2400" dirty="0" smtClean="0"/>
          </a:p>
          <a:p>
            <a:pPr algn="just"/>
            <a:r>
              <a:rPr lang="vi-VN" sz="2400" dirty="0" smtClean="0"/>
              <a:t>Dar </a:t>
            </a:r>
            <a:r>
              <a:rPr lang="ro-MO" sz="2400" dirty="0" smtClean="0">
                <a:latin typeface="Arial" pitchFamily="34" charset="0"/>
                <a:cs typeface="Arial" pitchFamily="34" charset="0"/>
              </a:rPr>
              <a:t>dacă este necesar de generat numere în intervalul </a:t>
            </a:r>
            <a:r>
              <a:rPr lang="vi-VN" sz="2400" dirty="0" smtClean="0"/>
              <a:t>de la </a:t>
            </a:r>
            <a:r>
              <a:rPr lang="vi-VN" sz="2400" b="1" dirty="0" smtClean="0"/>
              <a:t>1</a:t>
            </a:r>
            <a:r>
              <a:rPr lang="vi-VN" sz="2400" dirty="0" smtClean="0"/>
              <a:t> la </a:t>
            </a:r>
            <a:r>
              <a:rPr lang="vi-VN" sz="2400" b="1" dirty="0" smtClean="0"/>
              <a:t>100</a:t>
            </a:r>
            <a:r>
              <a:rPr lang="vi-VN" sz="2400" dirty="0" smtClean="0"/>
              <a:t>? </a:t>
            </a:r>
            <a:r>
              <a:rPr lang="ro-MO" sz="2400" dirty="0" smtClean="0">
                <a:latin typeface="Arial" pitchFamily="34" charset="0"/>
                <a:cs typeface="Arial" pitchFamily="34" charset="0"/>
              </a:rPr>
              <a:t>În acest caz </a:t>
            </a:r>
            <a:r>
              <a:rPr lang="vi-VN" sz="2400" dirty="0" smtClean="0">
                <a:latin typeface="Arial" pitchFamily="34" charset="0"/>
                <a:cs typeface="Arial" pitchFamily="34" charset="0"/>
              </a:rPr>
              <a:t>adunăm </a:t>
            </a:r>
            <a:r>
              <a:rPr lang="vi-VN" sz="2400" b="1" dirty="0" smtClean="0">
                <a:latin typeface="Arial" pitchFamily="34" charset="0"/>
                <a:cs typeface="Arial" pitchFamily="34" charset="0"/>
              </a:rPr>
              <a:t>1</a:t>
            </a:r>
            <a:r>
              <a:rPr lang="vi-VN" sz="2400" dirty="0" smtClean="0">
                <a:latin typeface="Arial" pitchFamily="34" charset="0"/>
                <a:cs typeface="Arial" pitchFamily="34" charset="0"/>
              </a:rPr>
              <a:t> la valoarea generată până la </a:t>
            </a:r>
            <a:r>
              <a:rPr lang="vi-VN" sz="2400" b="1" dirty="0" smtClean="0">
                <a:latin typeface="Arial" pitchFamily="34" charset="0"/>
                <a:cs typeface="Arial" pitchFamily="34" charset="0"/>
              </a:rPr>
              <a:t>99</a:t>
            </a:r>
            <a:r>
              <a:rPr lang="vi-VN" sz="2400" dirty="0" smtClean="0">
                <a:latin typeface="Arial" pitchFamily="34" charset="0"/>
                <a:cs typeface="Arial" pitchFamily="34" charset="0"/>
              </a:rPr>
              <a:t>, ca </a:t>
            </a:r>
            <a:r>
              <a:rPr lang="ro-MO" sz="2400" dirty="0" smtClean="0">
                <a:latin typeface="Arial" pitchFamily="34" charset="0"/>
                <a:cs typeface="Arial" pitchFamily="34" charset="0"/>
              </a:rPr>
              <a:t>în exemplul de </a:t>
            </a:r>
            <a:r>
              <a:rPr lang="vi-VN" sz="2400" dirty="0" smtClean="0">
                <a:latin typeface="Arial" pitchFamily="34" charset="0"/>
                <a:cs typeface="Arial" pitchFamily="34" charset="0"/>
              </a:rPr>
              <a:t>mai jos: </a:t>
            </a:r>
            <a:endParaRPr lang="ro-MO" sz="2400" dirty="0" smtClean="0">
              <a:latin typeface="Arial" pitchFamily="34" charset="0"/>
              <a:cs typeface="Arial" pitchFamily="34" charset="0"/>
            </a:endParaRPr>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u-RU" sz="2400" dirty="0"/>
          </a:p>
        </p:txBody>
      </p:sp>
      <p:pic>
        <p:nvPicPr>
          <p:cNvPr id="3074" name="Picture 2"/>
          <p:cNvPicPr>
            <a:picLocks noChangeAspect="1" noChangeArrowheads="1"/>
          </p:cNvPicPr>
          <p:nvPr/>
        </p:nvPicPr>
        <p:blipFill>
          <a:blip r:embed="rId2" cstate="print"/>
          <a:srcRect/>
          <a:stretch>
            <a:fillRect/>
          </a:stretch>
        </p:blipFill>
        <p:spPr bwMode="auto">
          <a:xfrm>
            <a:off x="381000" y="2286000"/>
            <a:ext cx="8001000" cy="2288352"/>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914400"/>
          </a:xfrm>
        </p:spPr>
        <p:txBody>
          <a:bodyPr>
            <a:normAutofit/>
          </a:bodyPr>
          <a:lstStyle/>
          <a:p>
            <a:r>
              <a:rPr lang="en-US" sz="3600" b="1" dirty="0" smtClean="0">
                <a:solidFill>
                  <a:schemeClr val="accent6">
                    <a:lumMod val="50000"/>
                  </a:schemeClr>
                </a:solidFill>
              </a:rPr>
              <a:t>MODULUL RANDOM</a:t>
            </a:r>
            <a:r>
              <a:rPr lang="ro-MO" sz="3600" b="1" dirty="0" smtClean="0">
                <a:solidFill>
                  <a:schemeClr val="accent6">
                    <a:lumMod val="50000"/>
                  </a:schemeClr>
                </a:solidFill>
              </a:rPr>
              <a:t>- funcţia RANDOM</a:t>
            </a:r>
            <a:endParaRPr lang="en-US" sz="3600" b="1" dirty="0">
              <a:solidFill>
                <a:schemeClr val="accent6">
                  <a:lumMod val="50000"/>
                </a:schemeClr>
              </a:solidFill>
            </a:endParaRPr>
          </a:p>
        </p:txBody>
      </p:sp>
      <p:sp>
        <p:nvSpPr>
          <p:cNvPr id="5" name="TextBox 4"/>
          <p:cNvSpPr txBox="1"/>
          <p:nvPr/>
        </p:nvSpPr>
        <p:spPr>
          <a:xfrm>
            <a:off x="0" y="685800"/>
            <a:ext cx="9144000" cy="5262979"/>
          </a:xfrm>
          <a:prstGeom prst="rect">
            <a:avLst/>
          </a:prstGeom>
          <a:noFill/>
        </p:spPr>
        <p:txBody>
          <a:bodyPr wrap="square" rtlCol="0">
            <a:spAutoFit/>
          </a:bodyPr>
          <a:lstStyle/>
          <a:p>
            <a:pPr algn="just"/>
            <a:endParaRPr lang="ro-MO" sz="2400" dirty="0" smtClean="0"/>
          </a:p>
          <a:p>
            <a:pPr algn="just"/>
            <a:r>
              <a:rPr lang="vi-VN" sz="2400" dirty="0" smtClean="0"/>
              <a:t>Cum putem însă afișa </a:t>
            </a:r>
            <a:r>
              <a:rPr lang="vi-VN" sz="2400" u="sng" dirty="0" smtClean="0">
                <a:solidFill>
                  <a:srgbClr val="FF0000"/>
                </a:solidFill>
              </a:rPr>
              <a:t>numere aleatoare întregi</a:t>
            </a:r>
            <a:r>
              <a:rPr lang="vi-VN" sz="2400" dirty="0" smtClean="0">
                <a:solidFill>
                  <a:srgbClr val="FF0000"/>
                </a:solidFill>
              </a:rPr>
              <a:t> </a:t>
            </a:r>
            <a:r>
              <a:rPr lang="vi-VN" sz="2400" dirty="0" smtClean="0"/>
              <a:t>între </a:t>
            </a:r>
            <a:r>
              <a:rPr lang="vi-VN" sz="2400" b="1" dirty="0" smtClean="0"/>
              <a:t>0</a:t>
            </a:r>
            <a:r>
              <a:rPr lang="vi-VN" sz="2400" dirty="0" smtClean="0"/>
              <a:t> și </a:t>
            </a:r>
            <a:r>
              <a:rPr lang="vi-VN" sz="2400" b="1" dirty="0" smtClean="0"/>
              <a:t>1000</a:t>
            </a:r>
            <a:r>
              <a:rPr lang="vi-VN" sz="2400" dirty="0" smtClean="0"/>
              <a:t>? </a:t>
            </a:r>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r>
              <a:rPr lang="vi-VN" sz="2400" dirty="0" smtClean="0"/>
              <a:t>Dacă a fost generat </a:t>
            </a:r>
            <a:r>
              <a:rPr lang="vi-VN" sz="2400" b="1" dirty="0" smtClean="0"/>
              <a:t>0.</a:t>
            </a:r>
            <a:r>
              <a:rPr lang="ro-MO" sz="2400" b="1" dirty="0" smtClean="0"/>
              <a:t>59234</a:t>
            </a:r>
            <a:r>
              <a:rPr lang="vi-VN" sz="2400" dirty="0" smtClean="0"/>
              <a:t>... Înmulțindu-l cu </a:t>
            </a:r>
            <a:r>
              <a:rPr lang="vi-VN" sz="2400" b="1" dirty="0" smtClean="0"/>
              <a:t>1000</a:t>
            </a:r>
            <a:r>
              <a:rPr lang="vi-VN" sz="2400" dirty="0" smtClean="0"/>
              <a:t>, se obține </a:t>
            </a:r>
            <a:r>
              <a:rPr lang="ro-MO" sz="2400" b="1" dirty="0" smtClean="0"/>
              <a:t>592.34</a:t>
            </a:r>
            <a:r>
              <a:rPr lang="vi-VN" sz="2400" dirty="0" smtClean="0"/>
              <a:t>, care apoi rotunjit spre un număr întreg devine </a:t>
            </a:r>
            <a:r>
              <a:rPr lang="ro-MO" sz="2400" b="1" dirty="0" smtClean="0"/>
              <a:t>592</a:t>
            </a:r>
            <a:r>
              <a:rPr lang="vi-VN" sz="2400" dirty="0" smtClean="0"/>
              <a:t>. </a:t>
            </a:r>
            <a:endParaRPr lang="ro-MO" sz="2400" dirty="0" smtClean="0"/>
          </a:p>
          <a:p>
            <a:pPr algn="just"/>
            <a:endParaRPr lang="ru-RU" sz="2400" dirty="0"/>
          </a:p>
        </p:txBody>
      </p:sp>
      <p:pic>
        <p:nvPicPr>
          <p:cNvPr id="4098" name="Picture 2"/>
          <p:cNvPicPr>
            <a:picLocks noChangeAspect="1" noChangeArrowheads="1"/>
          </p:cNvPicPr>
          <p:nvPr/>
        </p:nvPicPr>
        <p:blipFill>
          <a:blip r:embed="rId2" cstate="print"/>
          <a:srcRect/>
          <a:stretch>
            <a:fillRect/>
          </a:stretch>
        </p:blipFill>
        <p:spPr bwMode="auto">
          <a:xfrm>
            <a:off x="228600" y="2133600"/>
            <a:ext cx="8910958" cy="19812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914400"/>
          </a:xfrm>
        </p:spPr>
        <p:txBody>
          <a:bodyPr>
            <a:normAutofit/>
          </a:bodyPr>
          <a:lstStyle/>
          <a:p>
            <a:r>
              <a:rPr lang="en-US" sz="3600" b="1" dirty="0" smtClean="0">
                <a:solidFill>
                  <a:schemeClr val="accent6">
                    <a:lumMod val="50000"/>
                  </a:schemeClr>
                </a:solidFill>
              </a:rPr>
              <a:t>MODULUL RANDOM</a:t>
            </a:r>
            <a:r>
              <a:rPr lang="ro-MO" sz="3600" b="1" dirty="0" smtClean="0">
                <a:solidFill>
                  <a:schemeClr val="accent6">
                    <a:lumMod val="50000"/>
                  </a:schemeClr>
                </a:solidFill>
              </a:rPr>
              <a:t>- funcţia RANDOM</a:t>
            </a:r>
            <a:endParaRPr lang="en-US" sz="3600" b="1" dirty="0">
              <a:solidFill>
                <a:schemeClr val="accent6">
                  <a:lumMod val="50000"/>
                </a:schemeClr>
              </a:solidFill>
            </a:endParaRPr>
          </a:p>
        </p:txBody>
      </p:sp>
      <p:sp>
        <p:nvSpPr>
          <p:cNvPr id="5" name="TextBox 4"/>
          <p:cNvSpPr txBox="1"/>
          <p:nvPr/>
        </p:nvSpPr>
        <p:spPr>
          <a:xfrm>
            <a:off x="0" y="685800"/>
            <a:ext cx="9144000" cy="4893647"/>
          </a:xfrm>
          <a:prstGeom prst="rect">
            <a:avLst/>
          </a:prstGeom>
          <a:noFill/>
        </p:spPr>
        <p:txBody>
          <a:bodyPr wrap="square" rtlCol="0">
            <a:spAutoFit/>
          </a:bodyPr>
          <a:lstStyle/>
          <a:p>
            <a:pPr algn="just"/>
            <a:endParaRPr lang="ro-MO" sz="2400" dirty="0" smtClean="0"/>
          </a:p>
          <a:p>
            <a:pPr algn="just"/>
            <a:r>
              <a:rPr lang="en-US" sz="2400" dirty="0" smtClean="0">
                <a:latin typeface="Arial" pitchFamily="34" charset="0"/>
                <a:cs typeface="Arial" pitchFamily="34" charset="0"/>
              </a:rPr>
              <a:t>Cum </a:t>
            </a:r>
            <a:r>
              <a:rPr lang="en-US" sz="2400" dirty="0" err="1" smtClean="0">
                <a:latin typeface="Arial" pitchFamily="34" charset="0"/>
                <a:cs typeface="Arial" pitchFamily="34" charset="0"/>
              </a:rPr>
              <a:t>putem</a:t>
            </a:r>
            <a:r>
              <a:rPr lang="en-US" sz="2400" dirty="0" smtClean="0">
                <a:latin typeface="Arial" pitchFamily="34" charset="0"/>
                <a:cs typeface="Arial" pitchFamily="34" charset="0"/>
              </a:rPr>
              <a:t> genera </a:t>
            </a:r>
            <a:r>
              <a:rPr lang="en-US" sz="2400" dirty="0" err="1" smtClean="0">
                <a:latin typeface="Arial" pitchFamily="34" charset="0"/>
                <a:cs typeface="Arial" pitchFamily="34" charset="0"/>
              </a:rPr>
              <a:t>numere</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întregi</a:t>
            </a:r>
            <a:r>
              <a:rPr lang="en-US" sz="2400" dirty="0" smtClean="0">
                <a:latin typeface="Arial" pitchFamily="34" charset="0"/>
                <a:cs typeface="Arial" pitchFamily="34" charset="0"/>
              </a:rPr>
              <a:t> </a:t>
            </a:r>
            <a:r>
              <a:rPr lang="ro-MO" sz="2400" dirty="0" smtClean="0">
                <a:latin typeface="Arial" pitchFamily="34" charset="0"/>
                <a:cs typeface="Arial" pitchFamily="34" charset="0"/>
              </a:rPr>
              <a:t>cuprinse într-un anumit interval, de exemplu </a:t>
            </a:r>
            <a:r>
              <a:rPr lang="en-US" sz="2400" dirty="0" err="1" smtClean="0">
                <a:latin typeface="Arial" pitchFamily="34" charset="0"/>
                <a:cs typeface="Arial" pitchFamily="34" charset="0"/>
              </a:rPr>
              <a:t>între</a:t>
            </a:r>
            <a:r>
              <a:rPr lang="en-US" sz="2400" dirty="0" smtClean="0">
                <a:latin typeface="Arial" pitchFamily="34" charset="0"/>
                <a:cs typeface="Arial" pitchFamily="34" charset="0"/>
              </a:rPr>
              <a:t> </a:t>
            </a:r>
            <a:r>
              <a:rPr lang="ro-MO" sz="2400" b="1" dirty="0" smtClean="0">
                <a:latin typeface="Arial" pitchFamily="34" charset="0"/>
                <a:cs typeface="Arial" pitchFamily="34" charset="0"/>
              </a:rPr>
              <a:t>3</a:t>
            </a:r>
            <a:r>
              <a:rPr lang="en-US" sz="2400" b="1" dirty="0" smtClean="0">
                <a:latin typeface="Arial" pitchFamily="34" charset="0"/>
                <a:cs typeface="Arial" pitchFamily="34" charset="0"/>
              </a:rPr>
              <a:t>0</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și</a:t>
            </a:r>
            <a:r>
              <a:rPr lang="en-US" sz="2400" dirty="0" smtClean="0">
                <a:latin typeface="Arial" pitchFamily="34" charset="0"/>
                <a:cs typeface="Arial" pitchFamily="34" charset="0"/>
              </a:rPr>
              <a:t> </a:t>
            </a:r>
            <a:r>
              <a:rPr lang="ro-MO" sz="2400" b="1" dirty="0" smtClean="0">
                <a:latin typeface="Arial" pitchFamily="34" charset="0"/>
                <a:cs typeface="Arial" pitchFamily="34" charset="0"/>
              </a:rPr>
              <a:t>9</a:t>
            </a:r>
            <a:r>
              <a:rPr lang="en-US" sz="2400" b="1" dirty="0" smtClean="0">
                <a:latin typeface="Arial" pitchFamily="34" charset="0"/>
                <a:cs typeface="Arial" pitchFamily="34" charset="0"/>
              </a:rPr>
              <a:t>0</a:t>
            </a:r>
            <a:r>
              <a:rPr lang="en-US" sz="2400" dirty="0" smtClean="0">
                <a:latin typeface="Arial" pitchFamily="34" charset="0"/>
                <a:cs typeface="Arial" pitchFamily="34" charset="0"/>
              </a:rPr>
              <a:t>? </a:t>
            </a:r>
            <a:r>
              <a:rPr lang="vi-VN" sz="2400" dirty="0" smtClean="0"/>
              <a:t>Putem tipări, precum anterior, numere între </a:t>
            </a:r>
            <a:r>
              <a:rPr lang="vi-VN" sz="2400" b="1" dirty="0" smtClean="0"/>
              <a:t>0</a:t>
            </a:r>
            <a:r>
              <a:rPr lang="vi-VN" sz="2400" dirty="0" smtClean="0"/>
              <a:t> și </a:t>
            </a:r>
            <a:r>
              <a:rPr lang="ro-MO" sz="2400" b="1" dirty="0" smtClean="0"/>
              <a:t>6</a:t>
            </a:r>
            <a:r>
              <a:rPr lang="vi-VN" sz="2400" b="1" dirty="0" smtClean="0"/>
              <a:t>0</a:t>
            </a:r>
            <a:r>
              <a:rPr lang="vi-VN" sz="2400" dirty="0" smtClean="0"/>
              <a:t>. Doar adunăm </a:t>
            </a:r>
            <a:r>
              <a:rPr lang="ro-MO" sz="2400" b="1" dirty="0" smtClean="0"/>
              <a:t>3</a:t>
            </a:r>
            <a:r>
              <a:rPr lang="vi-VN" sz="2400" b="1" dirty="0" smtClean="0"/>
              <a:t>0</a:t>
            </a:r>
            <a:r>
              <a:rPr lang="vi-VN" sz="2400" dirty="0" smtClean="0"/>
              <a:t> pentru fiecare număr în parte apoi: </a:t>
            </a:r>
            <a:endParaRPr lang="ro-MO" sz="2400" dirty="0" smtClean="0">
              <a:latin typeface="Arial" pitchFamily="34" charset="0"/>
              <a:cs typeface="Arial" pitchFamily="34" charset="0"/>
            </a:endParaRPr>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u-RU" sz="2400" dirty="0"/>
          </a:p>
        </p:txBody>
      </p:sp>
      <p:pic>
        <p:nvPicPr>
          <p:cNvPr id="5122" name="Picture 2"/>
          <p:cNvPicPr>
            <a:picLocks noChangeAspect="1" noChangeArrowheads="1"/>
          </p:cNvPicPr>
          <p:nvPr/>
        </p:nvPicPr>
        <p:blipFill>
          <a:blip r:embed="rId2" cstate="print"/>
          <a:srcRect/>
          <a:stretch>
            <a:fillRect/>
          </a:stretch>
        </p:blipFill>
        <p:spPr bwMode="auto">
          <a:xfrm>
            <a:off x="304799" y="2743200"/>
            <a:ext cx="8602133" cy="23622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914400"/>
          </a:xfrm>
        </p:spPr>
        <p:txBody>
          <a:bodyPr>
            <a:normAutofit/>
          </a:bodyPr>
          <a:lstStyle/>
          <a:p>
            <a:r>
              <a:rPr lang="en-US" sz="3600" b="1" dirty="0" smtClean="0">
                <a:solidFill>
                  <a:schemeClr val="accent6">
                    <a:lumMod val="50000"/>
                  </a:schemeClr>
                </a:solidFill>
              </a:rPr>
              <a:t>MODULUL RANDOM</a:t>
            </a:r>
            <a:r>
              <a:rPr lang="ro-MO" sz="3600" b="1" dirty="0" smtClean="0">
                <a:solidFill>
                  <a:schemeClr val="accent6">
                    <a:lumMod val="50000"/>
                  </a:schemeClr>
                </a:solidFill>
              </a:rPr>
              <a:t>- </a:t>
            </a:r>
            <a:r>
              <a:rPr lang="ro-MO" sz="3600" b="1" smtClean="0">
                <a:solidFill>
                  <a:schemeClr val="accent6">
                    <a:lumMod val="50000"/>
                  </a:schemeClr>
                </a:solidFill>
              </a:rPr>
              <a:t>funcţia RANDINT</a:t>
            </a:r>
            <a:endParaRPr lang="en-US" sz="3600" b="1" dirty="0">
              <a:solidFill>
                <a:schemeClr val="accent6">
                  <a:lumMod val="50000"/>
                </a:schemeClr>
              </a:solidFill>
            </a:endParaRPr>
          </a:p>
        </p:txBody>
      </p:sp>
      <p:sp>
        <p:nvSpPr>
          <p:cNvPr id="5" name="TextBox 4"/>
          <p:cNvSpPr txBox="1"/>
          <p:nvPr/>
        </p:nvSpPr>
        <p:spPr>
          <a:xfrm>
            <a:off x="0" y="685800"/>
            <a:ext cx="9144000" cy="4893647"/>
          </a:xfrm>
          <a:prstGeom prst="rect">
            <a:avLst/>
          </a:prstGeom>
          <a:noFill/>
        </p:spPr>
        <p:txBody>
          <a:bodyPr wrap="square" rtlCol="0">
            <a:spAutoFit/>
          </a:bodyPr>
          <a:lstStyle/>
          <a:p>
            <a:pPr algn="just"/>
            <a:r>
              <a:rPr lang="vi-VN" sz="2400" dirty="0" smtClean="0"/>
              <a:t>Modulul </a:t>
            </a:r>
            <a:r>
              <a:rPr lang="vi-VN" sz="2400" b="1" dirty="0" smtClean="0"/>
              <a:t>random</a:t>
            </a:r>
            <a:r>
              <a:rPr lang="vi-VN" sz="2400" dirty="0" smtClean="0"/>
              <a:t> conține o serie consistentă și avansată de funcții pentru a genera </a:t>
            </a:r>
            <a:r>
              <a:rPr lang="vi-VN" sz="2400" i="1" dirty="0" smtClean="0"/>
              <a:t>numere aleatoare</a:t>
            </a:r>
            <a:r>
              <a:rPr lang="vi-VN" sz="2400" dirty="0" smtClean="0"/>
              <a:t>. </a:t>
            </a:r>
            <a:endParaRPr lang="ro-MO" sz="2400" dirty="0" smtClean="0"/>
          </a:p>
          <a:p>
            <a:r>
              <a:rPr lang="vi-VN" sz="2400" b="1" dirty="0" smtClean="0"/>
              <a:t>Funcția randint</a:t>
            </a:r>
            <a:r>
              <a:rPr lang="ro-MO" sz="2400" b="1" dirty="0" smtClean="0"/>
              <a:t> </a:t>
            </a:r>
            <a:r>
              <a:rPr lang="vi-VN" sz="2400" dirty="0" smtClean="0"/>
              <a:t>ne scutește de calculele anterioare pentru a obține numere întregi. </a:t>
            </a:r>
            <a:br>
              <a:rPr lang="vi-VN" sz="2400" dirty="0" smtClean="0"/>
            </a:br>
            <a:r>
              <a:rPr lang="vi-VN" sz="2400" dirty="0" smtClean="0"/>
              <a:t>Funcția </a:t>
            </a:r>
            <a:r>
              <a:rPr lang="vi-VN" sz="2400" b="1" dirty="0" smtClean="0"/>
              <a:t>randint(început,sfârșit)</a:t>
            </a:r>
            <a:r>
              <a:rPr lang="vi-VN" sz="2400" dirty="0" smtClean="0"/>
              <a:t> întoarce un număr aleator întreg cu semn (deci tipul </a:t>
            </a:r>
            <a:r>
              <a:rPr lang="vi-VN" sz="2400" b="1" dirty="0" smtClean="0"/>
              <a:t>int</a:t>
            </a:r>
            <a:r>
              <a:rPr lang="vi-VN" sz="2400" dirty="0" smtClean="0"/>
              <a:t>) din intervalul specificat de parametri. </a:t>
            </a:r>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u-RU" sz="2400" dirty="0"/>
          </a:p>
        </p:txBody>
      </p:sp>
      <p:pic>
        <p:nvPicPr>
          <p:cNvPr id="6146" name="Picture 2"/>
          <p:cNvPicPr>
            <a:picLocks noChangeAspect="1" noChangeArrowheads="1"/>
          </p:cNvPicPr>
          <p:nvPr/>
        </p:nvPicPr>
        <p:blipFill>
          <a:blip r:embed="rId2" cstate="print"/>
          <a:srcRect/>
          <a:stretch>
            <a:fillRect/>
          </a:stretch>
        </p:blipFill>
        <p:spPr bwMode="auto">
          <a:xfrm>
            <a:off x="1447800" y="2981582"/>
            <a:ext cx="7391401" cy="2047618"/>
          </a:xfrm>
          <a:prstGeom prst="rect">
            <a:avLst/>
          </a:prstGeom>
          <a:noFill/>
          <a:ln w="9525">
            <a:noFill/>
            <a:miter lim="800000"/>
            <a:headEnd/>
            <a:tailEnd/>
          </a:ln>
        </p:spPr>
      </p:pic>
      <p:pic>
        <p:nvPicPr>
          <p:cNvPr id="6147" name="Picture 3"/>
          <p:cNvPicPr>
            <a:picLocks noChangeAspect="1" noChangeArrowheads="1"/>
          </p:cNvPicPr>
          <p:nvPr/>
        </p:nvPicPr>
        <p:blipFill>
          <a:blip r:embed="rId3" cstate="print"/>
          <a:srcRect/>
          <a:stretch>
            <a:fillRect/>
          </a:stretch>
        </p:blipFill>
        <p:spPr bwMode="auto">
          <a:xfrm>
            <a:off x="76200" y="5041071"/>
            <a:ext cx="7600950" cy="1816929"/>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914400"/>
          </a:xfrm>
        </p:spPr>
        <p:txBody>
          <a:bodyPr>
            <a:normAutofit/>
          </a:bodyPr>
          <a:lstStyle/>
          <a:p>
            <a:r>
              <a:rPr lang="en-US" sz="3600" b="1" dirty="0" smtClean="0">
                <a:solidFill>
                  <a:schemeClr val="accent6">
                    <a:lumMod val="50000"/>
                  </a:schemeClr>
                </a:solidFill>
              </a:rPr>
              <a:t>MODULUL RANDOM</a:t>
            </a:r>
            <a:r>
              <a:rPr lang="ro-MO" sz="3600" b="1" dirty="0" smtClean="0">
                <a:solidFill>
                  <a:schemeClr val="accent6">
                    <a:lumMod val="50000"/>
                  </a:schemeClr>
                </a:solidFill>
              </a:rPr>
              <a:t>- funcţia CHOICE</a:t>
            </a:r>
            <a:endParaRPr lang="en-US" sz="3600" b="1" dirty="0">
              <a:solidFill>
                <a:schemeClr val="accent6">
                  <a:lumMod val="50000"/>
                </a:schemeClr>
              </a:solidFill>
            </a:endParaRPr>
          </a:p>
        </p:txBody>
      </p:sp>
      <p:sp>
        <p:nvSpPr>
          <p:cNvPr id="5" name="TextBox 4"/>
          <p:cNvSpPr txBox="1"/>
          <p:nvPr/>
        </p:nvSpPr>
        <p:spPr>
          <a:xfrm>
            <a:off x="0" y="685800"/>
            <a:ext cx="9144000" cy="3416320"/>
          </a:xfrm>
          <a:prstGeom prst="rect">
            <a:avLst/>
          </a:prstGeom>
          <a:noFill/>
        </p:spPr>
        <p:txBody>
          <a:bodyPr wrap="square" rtlCol="0">
            <a:spAutoFit/>
          </a:bodyPr>
          <a:lstStyle/>
          <a:p>
            <a:pPr algn="just"/>
            <a:r>
              <a:rPr lang="vi-VN" sz="2400" dirty="0" smtClean="0"/>
              <a:t>Putem alege unul dintre obiectele reținute de o listă sau un șir de caractere, folosind funcția </a:t>
            </a:r>
            <a:r>
              <a:rPr lang="vi-VN" sz="2400" b="1" dirty="0" smtClean="0"/>
              <a:t>choice(colecție_de_date)</a:t>
            </a:r>
            <a:r>
              <a:rPr lang="vi-VN" sz="2400" dirty="0" smtClean="0"/>
              <a:t>. Funcția întoarce la întâmplare un element din cadrul obiectului.</a:t>
            </a:r>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o-MO" sz="2400" dirty="0" smtClean="0"/>
          </a:p>
          <a:p>
            <a:pPr algn="just"/>
            <a:endParaRPr lang="ru-RU" sz="2400" dirty="0"/>
          </a:p>
        </p:txBody>
      </p:sp>
      <p:pic>
        <p:nvPicPr>
          <p:cNvPr id="7170" name="Picture 2"/>
          <p:cNvPicPr>
            <a:picLocks noChangeAspect="1" noChangeArrowheads="1"/>
          </p:cNvPicPr>
          <p:nvPr/>
        </p:nvPicPr>
        <p:blipFill>
          <a:blip r:embed="rId2" cstate="print"/>
          <a:srcRect/>
          <a:stretch>
            <a:fillRect/>
          </a:stretch>
        </p:blipFill>
        <p:spPr bwMode="auto">
          <a:xfrm>
            <a:off x="2133600" y="1905000"/>
            <a:ext cx="6858000" cy="1733192"/>
          </a:xfrm>
          <a:prstGeom prst="rect">
            <a:avLst/>
          </a:prstGeom>
          <a:noFill/>
          <a:ln w="9525">
            <a:noFill/>
            <a:miter lim="800000"/>
            <a:headEnd/>
            <a:tailEnd/>
          </a:ln>
        </p:spPr>
      </p:pic>
      <p:pic>
        <p:nvPicPr>
          <p:cNvPr id="7171" name="Picture 3"/>
          <p:cNvPicPr>
            <a:picLocks noChangeAspect="1" noChangeArrowheads="1"/>
          </p:cNvPicPr>
          <p:nvPr/>
        </p:nvPicPr>
        <p:blipFill>
          <a:blip r:embed="rId3" cstate="print"/>
          <a:srcRect/>
          <a:stretch>
            <a:fillRect/>
          </a:stretch>
        </p:blipFill>
        <p:spPr bwMode="auto">
          <a:xfrm>
            <a:off x="228600" y="3581400"/>
            <a:ext cx="6705600" cy="1653614"/>
          </a:xfrm>
          <a:prstGeom prst="rect">
            <a:avLst/>
          </a:prstGeom>
          <a:noFill/>
          <a:ln w="9525">
            <a:noFill/>
            <a:miter lim="800000"/>
            <a:headEnd/>
            <a:tailEnd/>
          </a:ln>
        </p:spPr>
      </p:pic>
      <p:pic>
        <p:nvPicPr>
          <p:cNvPr id="7172" name="Picture 4"/>
          <p:cNvPicPr>
            <a:picLocks noChangeAspect="1" noChangeArrowheads="1"/>
          </p:cNvPicPr>
          <p:nvPr/>
        </p:nvPicPr>
        <p:blipFill>
          <a:blip r:embed="rId4" cstate="print"/>
          <a:srcRect/>
          <a:stretch>
            <a:fillRect/>
          </a:stretch>
        </p:blipFill>
        <p:spPr bwMode="auto">
          <a:xfrm>
            <a:off x="2362200" y="5197860"/>
            <a:ext cx="6553200" cy="166014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914400"/>
          </a:xfrm>
        </p:spPr>
        <p:txBody>
          <a:bodyPr>
            <a:normAutofit/>
          </a:bodyPr>
          <a:lstStyle/>
          <a:p>
            <a:r>
              <a:rPr lang="en-US" sz="3600" b="1" dirty="0" smtClean="0">
                <a:solidFill>
                  <a:schemeClr val="accent6">
                    <a:lumMod val="50000"/>
                  </a:schemeClr>
                </a:solidFill>
              </a:rPr>
              <a:t>MODULUL RANDOM</a:t>
            </a:r>
            <a:r>
              <a:rPr lang="ro-MO" sz="3600" b="1" dirty="0" smtClean="0">
                <a:solidFill>
                  <a:schemeClr val="accent6">
                    <a:lumMod val="50000"/>
                  </a:schemeClr>
                </a:solidFill>
              </a:rPr>
              <a:t>- funcţia SEED</a:t>
            </a:r>
            <a:endParaRPr lang="en-US" sz="3600" b="1" dirty="0">
              <a:solidFill>
                <a:schemeClr val="accent6">
                  <a:lumMod val="50000"/>
                </a:schemeClr>
              </a:solidFill>
            </a:endParaRPr>
          </a:p>
        </p:txBody>
      </p:sp>
      <p:sp>
        <p:nvSpPr>
          <p:cNvPr id="5" name="TextBox 4"/>
          <p:cNvSpPr txBox="1"/>
          <p:nvPr/>
        </p:nvSpPr>
        <p:spPr>
          <a:xfrm>
            <a:off x="0" y="685800"/>
            <a:ext cx="9144000" cy="4524315"/>
          </a:xfrm>
          <a:prstGeom prst="rect">
            <a:avLst/>
          </a:prstGeom>
          <a:noFill/>
        </p:spPr>
        <p:txBody>
          <a:bodyPr wrap="square" rtlCol="0">
            <a:spAutoFit/>
          </a:bodyPr>
          <a:lstStyle/>
          <a:p>
            <a:pPr algn="just"/>
            <a:endParaRPr lang="ro-RO" sz="2400" dirty="0" smtClean="0"/>
          </a:p>
          <a:p>
            <a:pPr algn="just"/>
            <a:r>
              <a:rPr lang="vi-VN" sz="2400" dirty="0" smtClean="0"/>
              <a:t>Funcția </a:t>
            </a:r>
            <a:r>
              <a:rPr lang="vi-VN" sz="2400" b="1" dirty="0" smtClean="0"/>
              <a:t>seed(nr_intreg_optional)</a:t>
            </a:r>
            <a:r>
              <a:rPr lang="vi-VN" sz="2400" dirty="0" smtClean="0"/>
              <a:t> este utilă atunci când dorim </a:t>
            </a:r>
            <a:r>
              <a:rPr lang="vi-VN" sz="2400" b="1" dirty="0" smtClean="0"/>
              <a:t>să pornim generatorul de la aceeași valoare</a:t>
            </a:r>
            <a:r>
              <a:rPr lang="vi-VN" sz="2400" dirty="0" smtClean="0"/>
              <a:t> – potrivită pentru </a:t>
            </a:r>
            <a:r>
              <a:rPr lang="vi-VN" sz="2400" i="1" dirty="0" smtClean="0"/>
              <a:t>testarea programelor</a:t>
            </a:r>
            <a:r>
              <a:rPr lang="vi-VN" sz="2400" dirty="0" smtClean="0"/>
              <a:t> noastre. Dacă folosim același argument de mai multe ori, vom obține de fiecare dată </a:t>
            </a:r>
            <a:r>
              <a:rPr lang="vi-VN" sz="2400" i="1" dirty="0" smtClean="0"/>
              <a:t>o serie identică de numere aleatoare</a:t>
            </a:r>
            <a:r>
              <a:rPr lang="vi-VN" sz="2400" dirty="0" smtClean="0"/>
              <a:t>.</a:t>
            </a:r>
            <a:endParaRPr lang="ro-RO" sz="2400" dirty="0" smtClean="0"/>
          </a:p>
          <a:p>
            <a:pPr algn="just"/>
            <a:endParaRPr lang="ro-MO" sz="2400" dirty="0" smtClean="0"/>
          </a:p>
          <a:p>
            <a:pPr algn="just"/>
            <a:r>
              <a:rPr lang="vi-VN" sz="2400" i="1" u="sng" dirty="0" smtClean="0">
                <a:solidFill>
                  <a:srgbClr val="FF0000"/>
                </a:solidFill>
              </a:rPr>
              <a:t>Exemplu</a:t>
            </a:r>
            <a:r>
              <a:rPr lang="vi-VN" sz="2400" u="sng" dirty="0" smtClean="0">
                <a:solidFill>
                  <a:srgbClr val="FF0000"/>
                </a:solidFill>
              </a:rPr>
              <a:t>.</a:t>
            </a:r>
            <a:r>
              <a:rPr lang="vi-VN" sz="2400" dirty="0" smtClean="0"/>
              <a:t> Folosim </a:t>
            </a:r>
            <a:r>
              <a:rPr lang="vi-VN" sz="2400" b="1" dirty="0" smtClean="0"/>
              <a:t>seed()</a:t>
            </a:r>
            <a:r>
              <a:rPr lang="vi-VN" sz="2400" dirty="0" smtClean="0"/>
              <a:t> pentru a tipări cinci numere aleatoare, iar ca parametru vom specifica, să spunem, </a:t>
            </a:r>
            <a:r>
              <a:rPr lang="vi-VN" sz="2400" b="1" dirty="0" smtClean="0"/>
              <a:t>17</a:t>
            </a:r>
            <a:r>
              <a:rPr lang="vi-VN" sz="2400" dirty="0" smtClean="0"/>
              <a:t>:</a:t>
            </a:r>
            <a:endParaRPr lang="ro-MO" sz="2400" dirty="0" smtClean="0"/>
          </a:p>
          <a:p>
            <a:pPr algn="just"/>
            <a:endParaRPr lang="ro-MO" sz="2400" dirty="0" smtClean="0"/>
          </a:p>
          <a:p>
            <a:pPr algn="just"/>
            <a:endParaRPr lang="ro-MO" sz="2400" dirty="0" smtClean="0"/>
          </a:p>
          <a:p>
            <a:pPr algn="just"/>
            <a:endParaRPr lang="ru-RU" sz="2400" dirty="0"/>
          </a:p>
        </p:txBody>
      </p:sp>
      <p:pic>
        <p:nvPicPr>
          <p:cNvPr id="8194" name="Picture 2"/>
          <p:cNvPicPr>
            <a:picLocks noChangeAspect="1" noChangeArrowheads="1"/>
          </p:cNvPicPr>
          <p:nvPr/>
        </p:nvPicPr>
        <p:blipFill>
          <a:blip r:embed="rId2" cstate="print"/>
          <a:srcRect/>
          <a:stretch>
            <a:fillRect/>
          </a:stretch>
        </p:blipFill>
        <p:spPr bwMode="auto">
          <a:xfrm>
            <a:off x="228600" y="4191000"/>
            <a:ext cx="8602133" cy="24384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914400"/>
          </a:xfrm>
        </p:spPr>
        <p:txBody>
          <a:bodyPr>
            <a:normAutofit/>
          </a:bodyPr>
          <a:lstStyle/>
          <a:p>
            <a:r>
              <a:rPr lang="en-US" sz="3600" b="1" dirty="0" smtClean="0">
                <a:solidFill>
                  <a:schemeClr val="accent6">
                    <a:lumMod val="50000"/>
                  </a:schemeClr>
                </a:solidFill>
              </a:rPr>
              <a:t>MODULUL RANDOM</a:t>
            </a:r>
            <a:r>
              <a:rPr lang="ro-MO" sz="3600" b="1" dirty="0" smtClean="0">
                <a:solidFill>
                  <a:schemeClr val="accent6">
                    <a:lumMod val="50000"/>
                  </a:schemeClr>
                </a:solidFill>
              </a:rPr>
              <a:t>- funcţia SEED</a:t>
            </a:r>
            <a:endParaRPr lang="en-US" sz="3600" b="1" dirty="0">
              <a:solidFill>
                <a:schemeClr val="accent6">
                  <a:lumMod val="50000"/>
                </a:schemeClr>
              </a:solidFill>
            </a:endParaRPr>
          </a:p>
        </p:txBody>
      </p:sp>
      <p:sp>
        <p:nvSpPr>
          <p:cNvPr id="5" name="TextBox 4"/>
          <p:cNvSpPr txBox="1"/>
          <p:nvPr/>
        </p:nvSpPr>
        <p:spPr>
          <a:xfrm>
            <a:off x="0" y="685800"/>
            <a:ext cx="9144000" cy="6001643"/>
          </a:xfrm>
          <a:prstGeom prst="rect">
            <a:avLst/>
          </a:prstGeom>
          <a:noFill/>
        </p:spPr>
        <p:txBody>
          <a:bodyPr wrap="square" rtlCol="0">
            <a:spAutoFit/>
          </a:bodyPr>
          <a:lstStyle/>
          <a:p>
            <a:pPr algn="just"/>
            <a:endParaRPr lang="ro-RO" sz="2400" dirty="0" smtClean="0"/>
          </a:p>
          <a:p>
            <a:pPr algn="just"/>
            <a:r>
              <a:rPr lang="vi-VN" sz="2400" dirty="0" smtClean="0"/>
              <a:t>Am specificat prin </a:t>
            </a:r>
            <a:r>
              <a:rPr lang="vi-VN" sz="2400" b="1" dirty="0" smtClean="0"/>
              <a:t>seed()</a:t>
            </a:r>
            <a:r>
              <a:rPr lang="vi-VN" sz="2400" dirty="0" smtClean="0"/>
              <a:t> de fapt </a:t>
            </a:r>
            <a:r>
              <a:rPr lang="vi-VN" sz="2400" b="1" dirty="0" smtClean="0"/>
              <a:t>sămânța întâmplării</a:t>
            </a:r>
            <a:r>
              <a:rPr lang="vi-VN" sz="2400" dirty="0" smtClean="0"/>
              <a:t>, un loc de pornire pentru numerele aleatoare create ulterior. Dacă nu folosim funcția </a:t>
            </a:r>
            <a:r>
              <a:rPr lang="vi-VN" sz="2400" b="1" dirty="0" smtClean="0"/>
              <a:t>seed()</a:t>
            </a:r>
            <a:r>
              <a:rPr lang="vi-VN" sz="2400" dirty="0" smtClean="0"/>
              <a:t>, ori o apelăm fără parametrul opțional, valoarea implicită a argumentului este </a:t>
            </a:r>
            <a:r>
              <a:rPr lang="vi-VN" sz="2400" i="1" dirty="0" smtClean="0"/>
              <a:t>timpul curent al sistemului</a:t>
            </a:r>
            <a:r>
              <a:rPr lang="vi-VN" sz="2400" dirty="0" smtClean="0"/>
              <a:t>,</a:t>
            </a:r>
            <a:r>
              <a:rPr lang="ro-RO" sz="2400" dirty="0" smtClean="0"/>
              <a:t> </a:t>
            </a:r>
            <a:r>
              <a:rPr lang="vi-VN" sz="2400" dirty="0" smtClean="0"/>
              <a:t>de fiecare dată vom avea numere diferite și la întâmplare.</a:t>
            </a:r>
            <a:endParaRPr lang="ro-RO" sz="2400" dirty="0" smtClean="0"/>
          </a:p>
          <a:p>
            <a:pPr algn="just"/>
            <a:r>
              <a:rPr lang="vi-VN" sz="2400" dirty="0" smtClean="0"/>
              <a:t> </a:t>
            </a:r>
            <a:br>
              <a:rPr lang="vi-VN" sz="2400" dirty="0" smtClean="0"/>
            </a:br>
            <a:r>
              <a:rPr lang="vi-VN" sz="2400" b="1" i="1" dirty="0" smtClean="0">
                <a:solidFill>
                  <a:srgbClr val="FF0000"/>
                </a:solidFill>
              </a:rPr>
              <a:t>De ce este utilă?</a:t>
            </a:r>
            <a:r>
              <a:rPr lang="vi-VN" sz="2400" b="1" dirty="0" smtClean="0">
                <a:solidFill>
                  <a:srgbClr val="FF0000"/>
                </a:solidFill>
              </a:rPr>
              <a:t> </a:t>
            </a:r>
            <a:r>
              <a:rPr lang="vi-VN" sz="2400" dirty="0" smtClean="0"/>
              <a:t>Să spunem că realizăm un joc și folosim numere aleatoare. Pentru a putea evalua funcționarea programului, modul întâmplător indus, analiza valorilor obținute, avem nevoie ca de fiecare dată, în regim de test, să repornim generatorul, astfel încât la executarea programului, numerele să fie la fel. Bineînțeles că la final, când totul funcționează corect, ștergem apelul funcției </a:t>
            </a:r>
            <a:r>
              <a:rPr lang="vi-VN" sz="2400" b="1" dirty="0" smtClean="0"/>
              <a:t>seed()</a:t>
            </a:r>
            <a:r>
              <a:rPr lang="vi-VN" sz="2400" dirty="0" smtClean="0"/>
              <a:t>...</a:t>
            </a:r>
            <a:endParaRPr lang="ro-MO" sz="2400" dirty="0" smtClean="0"/>
          </a:p>
          <a:p>
            <a:pPr algn="just"/>
            <a:endParaRPr lang="ro-MO" sz="2400" dirty="0" smtClean="0"/>
          </a:p>
          <a:p>
            <a:pPr algn="just"/>
            <a:endParaRPr lang="ru-RU"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8229600" cy="914400"/>
          </a:xfrm>
        </p:spPr>
        <p:txBody>
          <a:bodyPr>
            <a:normAutofit/>
          </a:bodyPr>
          <a:lstStyle/>
          <a:p>
            <a:r>
              <a:rPr lang="en-US" sz="3600" b="1" dirty="0" smtClean="0">
                <a:solidFill>
                  <a:schemeClr val="accent6">
                    <a:lumMod val="50000"/>
                  </a:schemeClr>
                </a:solidFill>
              </a:rPr>
              <a:t>MAI MULTE MODULE</a:t>
            </a:r>
            <a:endParaRPr lang="en-US" sz="3600" b="1" dirty="0">
              <a:solidFill>
                <a:schemeClr val="accent6">
                  <a:lumMod val="50000"/>
                </a:schemeClr>
              </a:solidFill>
            </a:endParaRPr>
          </a:p>
        </p:txBody>
      </p:sp>
      <p:sp>
        <p:nvSpPr>
          <p:cNvPr id="5" name="TextBox 4"/>
          <p:cNvSpPr txBox="1"/>
          <p:nvPr/>
        </p:nvSpPr>
        <p:spPr>
          <a:xfrm>
            <a:off x="0" y="685800"/>
            <a:ext cx="9144000" cy="4154984"/>
          </a:xfrm>
          <a:prstGeom prst="rect">
            <a:avLst/>
          </a:prstGeom>
          <a:noFill/>
        </p:spPr>
        <p:txBody>
          <a:bodyPr wrap="square" rtlCol="0">
            <a:spAutoFit/>
          </a:bodyPr>
          <a:lstStyle/>
          <a:p>
            <a:pPr algn="just"/>
            <a:r>
              <a:rPr lang="vi-VN" sz="2400" dirty="0" smtClean="0"/>
              <a:t>Pentru a include un modul în programul nostru, am văzut că folosim directiva </a:t>
            </a:r>
            <a:r>
              <a:rPr lang="vi-VN" sz="2400" b="1" dirty="0" smtClean="0"/>
              <a:t>import</a:t>
            </a:r>
            <a:r>
              <a:rPr lang="vi-VN" sz="2400" dirty="0" smtClean="0"/>
              <a:t>, urmată de numele bibliotecii: </a:t>
            </a:r>
            <a:br>
              <a:rPr lang="vi-VN" sz="2400" dirty="0" smtClean="0"/>
            </a:br>
            <a:r>
              <a:rPr lang="vi-VN" sz="2400" b="1" dirty="0" smtClean="0">
                <a:solidFill>
                  <a:srgbClr val="FF0000"/>
                </a:solidFill>
              </a:rPr>
              <a:t>import random</a:t>
            </a:r>
            <a:r>
              <a:rPr lang="ro-RO" sz="2400" dirty="0" smtClean="0"/>
              <a:t>. </a:t>
            </a:r>
            <a:r>
              <a:rPr lang="vi-VN" sz="2400" dirty="0" smtClean="0"/>
              <a:t>Putem include mai multe module într-o singură comandă: </a:t>
            </a:r>
            <a:r>
              <a:rPr lang="vi-VN" sz="2400" b="1" dirty="0" smtClean="0">
                <a:solidFill>
                  <a:srgbClr val="FF0000"/>
                </a:solidFill>
              </a:rPr>
              <a:t>import random, math</a:t>
            </a:r>
            <a:r>
              <a:rPr lang="ro-RO" sz="2400" b="1" dirty="0" smtClean="0">
                <a:solidFill>
                  <a:srgbClr val="FF0000"/>
                </a:solidFill>
              </a:rPr>
              <a:t> </a:t>
            </a:r>
            <a:r>
              <a:rPr lang="vi-VN" sz="2400" dirty="0" smtClean="0"/>
              <a:t>sau doar o parte dintre subrutinele conținute de un modul:</a:t>
            </a:r>
            <a:r>
              <a:rPr lang="ro-RO" sz="2400" dirty="0" smtClean="0"/>
              <a:t> </a:t>
            </a:r>
            <a:r>
              <a:rPr lang="vi-VN" sz="2400" b="1" dirty="0" smtClean="0">
                <a:solidFill>
                  <a:srgbClr val="FF0000"/>
                </a:solidFill>
              </a:rPr>
              <a:t>from random import randint </a:t>
            </a:r>
            <a:r>
              <a:rPr lang="vi-VN" sz="2400" dirty="0" smtClean="0"/>
              <a:t/>
            </a:r>
            <a:br>
              <a:rPr lang="vi-VN" sz="2400" dirty="0" smtClean="0"/>
            </a:br>
            <a:r>
              <a:rPr lang="vi-VN" sz="2400" dirty="0" smtClean="0"/>
              <a:t/>
            </a:r>
            <a:br>
              <a:rPr lang="vi-VN" sz="2400" dirty="0" smtClean="0"/>
            </a:br>
            <a:r>
              <a:rPr lang="ro-RO" sz="2400" dirty="0" smtClean="0"/>
              <a:t>D</a:t>
            </a:r>
            <a:r>
              <a:rPr lang="vi-VN" sz="2400" dirty="0" smtClean="0"/>
              <a:t>eoarece dorim să fim eficienți – includem doar ce ne este necesar. În acest ultim caz, nu includem tot modulul, ci doar funcțiile specificate, așadar apelul se va face direct, fără a mai fi precedat de numele modulului:</a:t>
            </a:r>
            <a:endParaRPr lang="ro-MO" sz="2400" dirty="0" smtClean="0"/>
          </a:p>
          <a:p>
            <a:pPr algn="just"/>
            <a:endParaRPr lang="ru-RU" sz="2400" dirty="0"/>
          </a:p>
        </p:txBody>
      </p:sp>
      <p:pic>
        <p:nvPicPr>
          <p:cNvPr id="9218" name="Picture 2"/>
          <p:cNvPicPr>
            <a:picLocks noChangeAspect="1" noChangeArrowheads="1"/>
          </p:cNvPicPr>
          <p:nvPr/>
        </p:nvPicPr>
        <p:blipFill>
          <a:blip r:embed="rId2" cstate="print"/>
          <a:srcRect/>
          <a:stretch>
            <a:fillRect/>
          </a:stretch>
        </p:blipFill>
        <p:spPr bwMode="auto">
          <a:xfrm>
            <a:off x="152400" y="4648200"/>
            <a:ext cx="8812995" cy="18288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52400"/>
            <a:ext cx="8229600" cy="914400"/>
          </a:xfrm>
        </p:spPr>
        <p:txBody>
          <a:bodyPr>
            <a:normAutofit fontScale="90000"/>
          </a:bodyPr>
          <a:lstStyle/>
          <a:p>
            <a:r>
              <a:rPr lang="ro-RO" sz="3600" b="1" dirty="0" smtClean="0">
                <a:solidFill>
                  <a:schemeClr val="accent6">
                    <a:lumMod val="50000"/>
                  </a:schemeClr>
                </a:solidFill>
              </a:rPr>
              <a:t>Lista modulelor din biblioteca </a:t>
            </a:r>
            <a:br>
              <a:rPr lang="ro-RO" sz="3600" b="1" dirty="0" smtClean="0">
                <a:solidFill>
                  <a:schemeClr val="accent6">
                    <a:lumMod val="50000"/>
                  </a:schemeClr>
                </a:solidFill>
              </a:rPr>
            </a:br>
            <a:r>
              <a:rPr lang="ro-RO" sz="3600" b="1" dirty="0" smtClean="0">
                <a:solidFill>
                  <a:schemeClr val="accent6">
                    <a:lumMod val="50000"/>
                  </a:schemeClr>
                </a:solidFill>
              </a:rPr>
              <a:t>PYTHON standard</a:t>
            </a:r>
            <a:endParaRPr lang="en-US" sz="3600" b="1" dirty="0">
              <a:solidFill>
                <a:schemeClr val="accent6">
                  <a:lumMod val="50000"/>
                </a:schemeClr>
              </a:solidFill>
            </a:endParaRPr>
          </a:p>
        </p:txBody>
      </p:sp>
      <p:sp>
        <p:nvSpPr>
          <p:cNvPr id="5" name="TextBox 4"/>
          <p:cNvSpPr txBox="1"/>
          <p:nvPr/>
        </p:nvSpPr>
        <p:spPr>
          <a:xfrm>
            <a:off x="0" y="1143000"/>
            <a:ext cx="9144000" cy="1569660"/>
          </a:xfrm>
          <a:prstGeom prst="rect">
            <a:avLst/>
          </a:prstGeom>
          <a:noFill/>
        </p:spPr>
        <p:txBody>
          <a:bodyPr wrap="square" rtlCol="0">
            <a:spAutoFit/>
          </a:bodyPr>
          <a:lstStyle/>
          <a:p>
            <a:pPr algn="just"/>
            <a:r>
              <a:rPr lang="vi-VN" sz="2400" dirty="0" smtClean="0"/>
              <a:t>Așadar, accesați linkul de mai jos:</a:t>
            </a:r>
            <a:endParaRPr lang="ro-RO" sz="2400" dirty="0" smtClean="0"/>
          </a:p>
          <a:p>
            <a:pPr algn="just"/>
            <a:r>
              <a:rPr lang="vi-VN" sz="2400" dirty="0" smtClean="0"/>
              <a:t> </a:t>
            </a:r>
            <a:r>
              <a:rPr lang="vi-VN" sz="2400" dirty="0" smtClean="0">
                <a:hlinkClick r:id="rId2"/>
              </a:rPr>
              <a:t>https://docs.python.org/3/py-modindex.html</a:t>
            </a:r>
            <a:r>
              <a:rPr lang="vi-VN" sz="2400" dirty="0" smtClean="0"/>
              <a:t> </a:t>
            </a:r>
            <a:br>
              <a:rPr lang="vi-VN" sz="2400" dirty="0" smtClean="0"/>
            </a:br>
            <a:r>
              <a:rPr lang="ro-RO" sz="2400" dirty="0" smtClean="0"/>
              <a:t>v</a:t>
            </a:r>
            <a:r>
              <a:rPr lang="vi-VN" sz="2400" dirty="0" smtClean="0"/>
              <a:t>eți găsi lista completă a modulelor din </a:t>
            </a:r>
            <a:r>
              <a:rPr lang="vi-VN" sz="2400" i="1" dirty="0" smtClean="0"/>
              <a:t>biblioteca standard</a:t>
            </a:r>
            <a:r>
              <a:rPr lang="vi-VN" sz="2400" dirty="0" smtClean="0"/>
              <a:t> și o scurtă descriere a acestora.</a:t>
            </a:r>
            <a:endParaRPr lang="ru-RU" sz="2400" dirty="0"/>
          </a:p>
        </p:txBody>
      </p:sp>
      <p:pic>
        <p:nvPicPr>
          <p:cNvPr id="10242" name="Picture 2"/>
          <p:cNvPicPr>
            <a:picLocks noChangeAspect="1" noChangeArrowheads="1"/>
          </p:cNvPicPr>
          <p:nvPr/>
        </p:nvPicPr>
        <p:blipFill>
          <a:blip r:embed="rId3" cstate="print"/>
          <a:srcRect/>
          <a:stretch>
            <a:fillRect/>
          </a:stretch>
        </p:blipFill>
        <p:spPr bwMode="auto">
          <a:xfrm>
            <a:off x="76199" y="2971800"/>
            <a:ext cx="9043569" cy="34290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52400"/>
            <a:ext cx="8229600" cy="1143000"/>
          </a:xfrm>
        </p:spPr>
        <p:txBody>
          <a:bodyPr/>
          <a:lstStyle/>
          <a:p>
            <a:r>
              <a:rPr lang="ro-RO" dirty="0" smtClean="0">
                <a:solidFill>
                  <a:schemeClr val="accent6">
                    <a:lumMod val="50000"/>
                  </a:schemeClr>
                </a:solidFill>
              </a:rPr>
              <a:t>LECȚII PRACTICE </a:t>
            </a:r>
            <a:r>
              <a:rPr lang="ro-RO" dirty="0" smtClean="0">
                <a:solidFill>
                  <a:schemeClr val="accent6">
                    <a:lumMod val="50000"/>
                  </a:schemeClr>
                </a:solidFill>
              </a:rPr>
              <a:t>*11/18.10.2025</a:t>
            </a:r>
            <a:endParaRPr lang="ru-RU" dirty="0">
              <a:solidFill>
                <a:schemeClr val="accent6">
                  <a:lumMod val="50000"/>
                </a:schemeClr>
              </a:solidFill>
            </a:endParaRPr>
          </a:p>
        </p:txBody>
      </p:sp>
      <p:sp>
        <p:nvSpPr>
          <p:cNvPr id="4" name="TextBox 3"/>
          <p:cNvSpPr txBox="1"/>
          <p:nvPr/>
        </p:nvSpPr>
        <p:spPr>
          <a:xfrm>
            <a:off x="14177" y="762000"/>
            <a:ext cx="8839200" cy="6463308"/>
          </a:xfrm>
          <a:prstGeom prst="rect">
            <a:avLst/>
          </a:prstGeom>
          <a:noFill/>
        </p:spPr>
        <p:txBody>
          <a:bodyPr wrap="square" rtlCol="0">
            <a:spAutoFit/>
          </a:bodyPr>
          <a:lstStyle/>
          <a:p>
            <a:r>
              <a:rPr lang="fr-FR" dirty="0" smtClean="0"/>
              <a:t> </a:t>
            </a:r>
            <a:endParaRPr lang="ro-RO" dirty="0" smtClean="0"/>
          </a:p>
          <a:p>
            <a:r>
              <a:rPr lang="ro-RO" dirty="0" smtClean="0"/>
              <a:t>1. </a:t>
            </a:r>
            <a:r>
              <a:rPr lang="en-US" dirty="0" err="1" smtClean="0"/>
              <a:t>Să</a:t>
            </a:r>
            <a:r>
              <a:rPr lang="en-US" dirty="0" smtClean="0"/>
              <a:t> </a:t>
            </a:r>
            <a:r>
              <a:rPr lang="en-US" dirty="0" smtClean="0"/>
              <a:t>se </a:t>
            </a:r>
            <a:r>
              <a:rPr lang="en-US" dirty="0" err="1" smtClean="0"/>
              <a:t>afişeze</a:t>
            </a:r>
            <a:r>
              <a:rPr lang="en-US" dirty="0" smtClean="0"/>
              <a:t> </a:t>
            </a:r>
            <a:r>
              <a:rPr lang="en-US" dirty="0" err="1" smtClean="0"/>
              <a:t>suma</a:t>
            </a:r>
            <a:r>
              <a:rPr lang="en-US" dirty="0" smtClean="0"/>
              <a:t>  </a:t>
            </a:r>
            <a:r>
              <a:rPr lang="en-US" dirty="0" err="1" smtClean="0"/>
              <a:t>valorilor</a:t>
            </a:r>
            <a:r>
              <a:rPr lang="en-US" dirty="0" smtClean="0"/>
              <a:t> </a:t>
            </a:r>
            <a:r>
              <a:rPr lang="en-US" dirty="0" err="1" smtClean="0"/>
              <a:t>pozitive</a:t>
            </a:r>
            <a:r>
              <a:rPr lang="en-US" dirty="0" smtClean="0"/>
              <a:t> </a:t>
            </a:r>
            <a:r>
              <a:rPr lang="en-US" dirty="0" err="1" smtClean="0"/>
              <a:t>şi</a:t>
            </a:r>
            <a:r>
              <a:rPr lang="en-US" dirty="0" smtClean="0"/>
              <a:t> </a:t>
            </a:r>
            <a:r>
              <a:rPr lang="en-US" dirty="0" err="1" smtClean="0"/>
              <a:t>suma</a:t>
            </a:r>
            <a:r>
              <a:rPr lang="en-US" dirty="0" smtClean="0"/>
              <a:t> </a:t>
            </a:r>
            <a:r>
              <a:rPr lang="en-US" dirty="0" err="1" smtClean="0"/>
              <a:t>valorilor</a:t>
            </a:r>
            <a:r>
              <a:rPr lang="en-US" dirty="0" smtClean="0"/>
              <a:t> negative din n </a:t>
            </a:r>
            <a:r>
              <a:rPr lang="en-US" dirty="0" err="1" smtClean="0"/>
              <a:t>numere</a:t>
            </a:r>
            <a:r>
              <a:rPr lang="en-US" dirty="0" smtClean="0"/>
              <a:t> </a:t>
            </a:r>
            <a:r>
              <a:rPr lang="ro-RO" dirty="0" smtClean="0"/>
              <a:t>generate</a:t>
            </a:r>
            <a:r>
              <a:rPr lang="en-US" dirty="0" smtClean="0"/>
              <a:t> </a:t>
            </a:r>
            <a:r>
              <a:rPr lang="en-US" dirty="0" err="1" smtClean="0"/>
              <a:t>în</a:t>
            </a:r>
            <a:r>
              <a:rPr lang="en-US" dirty="0" smtClean="0"/>
              <a:t> </a:t>
            </a:r>
            <a:r>
              <a:rPr lang="en-US" dirty="0" err="1" smtClean="0"/>
              <a:t>intervalul</a:t>
            </a:r>
            <a:r>
              <a:rPr lang="en-US" dirty="0" smtClean="0"/>
              <a:t> [-50,50] .</a:t>
            </a:r>
            <a:r>
              <a:rPr lang="ro-RO" dirty="0" smtClean="0"/>
              <a:t> Numărul de elemente n – este introdus de la tastatură. </a:t>
            </a:r>
          </a:p>
          <a:p>
            <a:r>
              <a:rPr lang="ro-RO" dirty="0" smtClean="0"/>
              <a:t> </a:t>
            </a:r>
            <a:r>
              <a:rPr lang="ro-RO" dirty="0" smtClean="0"/>
              <a:t>     </a:t>
            </a:r>
            <a:r>
              <a:rPr lang="en-US" dirty="0" err="1" smtClean="0"/>
              <a:t>Exemplu</a:t>
            </a:r>
            <a:r>
              <a:rPr lang="en-US" dirty="0" smtClean="0"/>
              <a:t>: Date de </a:t>
            </a:r>
            <a:r>
              <a:rPr lang="en-US" dirty="0" err="1" smtClean="0"/>
              <a:t>intrare</a:t>
            </a:r>
            <a:r>
              <a:rPr lang="en-US" dirty="0" smtClean="0"/>
              <a:t>  n=6  </a:t>
            </a:r>
            <a:r>
              <a:rPr lang="en-US" dirty="0" err="1" smtClean="0"/>
              <a:t>numere</a:t>
            </a:r>
            <a:r>
              <a:rPr lang="en-US" dirty="0" smtClean="0"/>
              <a:t> 6 9 -8 7 –5 –3  Date de </a:t>
            </a:r>
            <a:r>
              <a:rPr lang="en-US" dirty="0" err="1" smtClean="0"/>
              <a:t>ieşire</a:t>
            </a:r>
            <a:r>
              <a:rPr lang="en-US" dirty="0" smtClean="0"/>
              <a:t>: </a:t>
            </a:r>
            <a:r>
              <a:rPr lang="en-US" dirty="0" err="1" smtClean="0"/>
              <a:t>Spoz</a:t>
            </a:r>
            <a:r>
              <a:rPr lang="en-US" dirty="0" smtClean="0"/>
              <a:t>= 22  </a:t>
            </a:r>
            <a:r>
              <a:rPr lang="en-US" dirty="0" err="1" smtClean="0"/>
              <a:t>Sneg</a:t>
            </a:r>
            <a:r>
              <a:rPr lang="en-US" dirty="0" smtClean="0"/>
              <a:t>=-16. </a:t>
            </a:r>
            <a:endParaRPr lang="ro-RO" dirty="0" smtClean="0"/>
          </a:p>
          <a:p>
            <a:pPr marL="342900" indent="-342900">
              <a:buFont typeface="+mj-lt"/>
              <a:buAutoNum type="arabicPeriod"/>
            </a:pPr>
            <a:endParaRPr lang="ru-RU" dirty="0" smtClean="0"/>
          </a:p>
          <a:p>
            <a:pPr lvl="0"/>
            <a:r>
              <a:rPr lang="ro-RO" dirty="0" smtClean="0"/>
              <a:t>2. </a:t>
            </a:r>
            <a:r>
              <a:rPr lang="fr-FR" dirty="0" smtClean="0"/>
              <a:t>Să se simuleze aruncarea unui zar de n ori afişându-se valoarea feţei şi să se afişeze de câte ori a apărut valoarea 6.</a:t>
            </a:r>
            <a:endParaRPr lang="ro-RO" dirty="0" smtClean="0"/>
          </a:p>
          <a:p>
            <a:pPr marL="342900" lvl="0" indent="-342900">
              <a:buFont typeface="+mj-lt"/>
              <a:buAutoNum type="arabicPeriod"/>
            </a:pPr>
            <a:endParaRPr lang="ro-RO" dirty="0" smtClean="0"/>
          </a:p>
          <a:p>
            <a:r>
              <a:rPr lang="ro-RO" dirty="0" smtClean="0"/>
              <a:t>3. </a:t>
            </a:r>
            <a:r>
              <a:rPr lang="fr-FR" dirty="0" smtClean="0"/>
              <a:t>Se </a:t>
            </a:r>
            <a:r>
              <a:rPr lang="fr-FR" dirty="0" err="1"/>
              <a:t>aruncă</a:t>
            </a:r>
            <a:r>
              <a:rPr lang="fr-FR" dirty="0"/>
              <a:t> 2 </a:t>
            </a:r>
            <a:r>
              <a:rPr lang="fr-FR" dirty="0" err="1"/>
              <a:t>zaruri</a:t>
            </a:r>
            <a:r>
              <a:rPr lang="fr-FR" dirty="0"/>
              <a:t> </a:t>
            </a:r>
            <a:r>
              <a:rPr lang="fr-FR" dirty="0" err="1"/>
              <a:t>până</a:t>
            </a:r>
            <a:r>
              <a:rPr lang="fr-FR" dirty="0"/>
              <a:t> la </a:t>
            </a:r>
            <a:r>
              <a:rPr lang="fr-FR" dirty="0" err="1"/>
              <a:t>obţinerea</a:t>
            </a:r>
            <a:r>
              <a:rPr lang="fr-FR" dirty="0"/>
              <a:t> </a:t>
            </a:r>
            <a:r>
              <a:rPr lang="fr-FR" dirty="0" err="1"/>
              <a:t>unei</a:t>
            </a:r>
            <a:r>
              <a:rPr lang="fr-FR" dirty="0"/>
              <a:t> </a:t>
            </a:r>
            <a:r>
              <a:rPr lang="fr-FR" dirty="0" err="1"/>
              <a:t>duble</a:t>
            </a:r>
            <a:r>
              <a:rPr lang="fr-FR" dirty="0"/>
              <a:t>. </a:t>
            </a:r>
            <a:r>
              <a:rPr lang="fr-FR" dirty="0" err="1"/>
              <a:t>Să</a:t>
            </a:r>
            <a:r>
              <a:rPr lang="fr-FR" dirty="0"/>
              <a:t> se </a:t>
            </a:r>
            <a:r>
              <a:rPr lang="fr-FR" dirty="0" err="1"/>
              <a:t>afişeze</a:t>
            </a:r>
            <a:r>
              <a:rPr lang="fr-FR" dirty="0"/>
              <a:t> </a:t>
            </a:r>
            <a:r>
              <a:rPr lang="fr-FR" dirty="0" err="1"/>
              <a:t>suma</a:t>
            </a:r>
            <a:r>
              <a:rPr lang="fr-FR" dirty="0"/>
              <a:t> </a:t>
            </a:r>
            <a:r>
              <a:rPr lang="fr-FR" dirty="0" err="1"/>
              <a:t>punctelor</a:t>
            </a:r>
            <a:r>
              <a:rPr lang="fr-FR" dirty="0"/>
              <a:t>.</a:t>
            </a:r>
          </a:p>
          <a:p>
            <a:pPr marL="342900" lvl="0" indent="-342900">
              <a:buFont typeface="+mj-lt"/>
              <a:buAutoNum type="arabicPeriod"/>
            </a:pPr>
            <a:endParaRPr lang="ru-RU" dirty="0" smtClean="0"/>
          </a:p>
          <a:p>
            <a:pPr lvl="0"/>
            <a:r>
              <a:rPr lang="ro-RO" dirty="0"/>
              <a:t>4</a:t>
            </a:r>
            <a:r>
              <a:rPr lang="ro-RO" dirty="0" smtClean="0"/>
              <a:t>. </a:t>
            </a:r>
            <a:r>
              <a:rPr lang="fr-FR" dirty="0" smtClean="0"/>
              <a:t>Se </a:t>
            </a:r>
            <a:r>
              <a:rPr lang="fr-FR" dirty="0" smtClean="0"/>
              <a:t>genereaz</a:t>
            </a:r>
            <a:r>
              <a:rPr lang="ro-RO" dirty="0" smtClean="0"/>
              <a:t>ă</a:t>
            </a:r>
            <a:r>
              <a:rPr lang="fr-FR" dirty="0" smtClean="0"/>
              <a:t> un  număr întreg de maxim 9 cifre, să se afişeze numărul de apariţii al fiecărei cifre. Exemplu : Date de intrare 364901211 Date de ieşire 0 apare de 1 ori  1 apare de 3 ori   2 apare de 1 ori   3 apare de 1 ori   4 apare de 1 ori   5 apare de 0 ori   6 apare de 1 ori   7 apare de 0 ori   8 apare de  0 ori   9 apare de 1 </a:t>
            </a:r>
            <a:r>
              <a:rPr lang="fr-FR" dirty="0" err="1" smtClean="0"/>
              <a:t>ori</a:t>
            </a:r>
            <a:r>
              <a:rPr lang="fr-FR" dirty="0" smtClean="0"/>
              <a:t>.</a:t>
            </a:r>
            <a:endParaRPr lang="ro-RO" dirty="0" smtClean="0"/>
          </a:p>
          <a:p>
            <a:pPr lvl="0"/>
            <a:endParaRPr lang="ro-RO" dirty="0"/>
          </a:p>
          <a:p>
            <a:endParaRPr lang="ro-RO" b="1" dirty="0" smtClean="0"/>
          </a:p>
          <a:p>
            <a:r>
              <a:rPr lang="ro-RO" b="1" dirty="0" smtClean="0"/>
              <a:t>NOTĂ: </a:t>
            </a:r>
            <a:r>
              <a:rPr lang="ro-RO" dirty="0" smtClean="0"/>
              <a:t>Problemele rezolvate vor fi salvata în GitHub cu </a:t>
            </a:r>
            <a:r>
              <a:rPr lang="ro-RO" dirty="0" smtClean="0"/>
              <a:t>numele: </a:t>
            </a:r>
            <a:r>
              <a:rPr lang="ro-RO" dirty="0"/>
              <a:t>Pr_1_UM_NP.py , </a:t>
            </a:r>
            <a:r>
              <a:rPr lang="ro-RO" dirty="0" smtClean="0"/>
              <a:t>Pr_2_UM_NP.py , Pr_3_UM_NP.py , Pr_4_UM_NP.py</a:t>
            </a:r>
            <a:endParaRPr lang="fr-FR" dirty="0"/>
          </a:p>
          <a:p>
            <a:pPr lvl="0"/>
            <a:endParaRPr lang="ro-RO" dirty="0" smtClean="0"/>
          </a:p>
          <a:p>
            <a:pPr lvl="0"/>
            <a:r>
              <a:rPr lang="ro-RO" dirty="0" smtClean="0"/>
              <a:t>NP – inițialele de la Numele și Prenumele elevului, de exemplu: </a:t>
            </a:r>
            <a:r>
              <a:rPr lang="ro-RO" b="1" u="sng" dirty="0" smtClean="0"/>
              <a:t>B</a:t>
            </a:r>
            <a:r>
              <a:rPr lang="ro-RO" dirty="0" smtClean="0"/>
              <a:t>ețișor </a:t>
            </a:r>
            <a:r>
              <a:rPr lang="ro-RO" b="1" u="sng" dirty="0" smtClean="0"/>
              <a:t>V</a:t>
            </a:r>
            <a:r>
              <a:rPr lang="ro-RO" dirty="0" smtClean="0"/>
              <a:t>adim - BV</a:t>
            </a:r>
            <a:endParaRPr lang="fr-FR" dirty="0"/>
          </a:p>
          <a:p>
            <a:r>
              <a:rPr lang="ro-RO" dirty="0" smtClean="0"/>
              <a:t>UM – </a:t>
            </a:r>
            <a:r>
              <a:rPr lang="ro-RO" b="1" u="sng" dirty="0" smtClean="0"/>
              <a:t>U</a:t>
            </a:r>
            <a:r>
              <a:rPr lang="ro-RO" dirty="0" smtClean="0"/>
              <a:t>niversul </a:t>
            </a:r>
            <a:r>
              <a:rPr lang="ro-RO" b="1" u="sng" dirty="0" smtClean="0"/>
              <a:t>M</a:t>
            </a:r>
            <a:r>
              <a:rPr lang="ro-RO" dirty="0" smtClean="0"/>
              <a:t>odulelor</a:t>
            </a:r>
            <a:endParaRPr lang="fr-FR" dirty="0"/>
          </a:p>
          <a:p>
            <a:pPr lvl="0"/>
            <a:endParaRPr lang="fr-FR" dirty="0" smtClean="0"/>
          </a:p>
          <a:p>
            <a:pPr lvl="0"/>
            <a:endParaRPr lang="ro-RO"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o-RO" dirty="0" smtClean="0">
                <a:solidFill>
                  <a:schemeClr val="accent6">
                    <a:lumMod val="50000"/>
                  </a:schemeClr>
                </a:solidFill>
              </a:rPr>
              <a:t>TEMĂ PENTRU ACASĂ *03/04.11.2025</a:t>
            </a:r>
            <a:endParaRPr lang="ru-RU" dirty="0">
              <a:solidFill>
                <a:schemeClr val="accent6">
                  <a:lumMod val="50000"/>
                </a:schemeClr>
              </a:solidFill>
            </a:endParaRPr>
          </a:p>
        </p:txBody>
      </p:sp>
      <p:sp>
        <p:nvSpPr>
          <p:cNvPr id="4" name="TextBox 3"/>
          <p:cNvSpPr txBox="1"/>
          <p:nvPr/>
        </p:nvSpPr>
        <p:spPr>
          <a:xfrm>
            <a:off x="152400" y="1143000"/>
            <a:ext cx="8839200" cy="4524315"/>
          </a:xfrm>
          <a:prstGeom prst="rect">
            <a:avLst/>
          </a:prstGeom>
          <a:noFill/>
        </p:spPr>
        <p:txBody>
          <a:bodyPr wrap="square" rtlCol="0">
            <a:spAutoFit/>
          </a:bodyPr>
          <a:lstStyle/>
          <a:p>
            <a:r>
              <a:rPr lang="fr-FR" dirty="0" smtClean="0"/>
              <a:t> </a:t>
            </a:r>
            <a:endParaRPr lang="ro-RO" dirty="0" smtClean="0"/>
          </a:p>
          <a:p>
            <a:pPr marL="342900" indent="-342900"/>
            <a:r>
              <a:rPr lang="ro-RO" dirty="0" smtClean="0"/>
              <a:t>1.  Să se alcătuiască un joc-test de verificare:</a:t>
            </a:r>
          </a:p>
          <a:p>
            <a:pPr marL="342900" indent="-342900"/>
            <a:r>
              <a:rPr lang="ro-RO" dirty="0" smtClean="0"/>
              <a:t>	a) a adunării a două numere generate de la 0 la 100 (a+b)</a:t>
            </a:r>
          </a:p>
          <a:p>
            <a:pPr marL="342900" indent="-342900"/>
            <a:r>
              <a:rPr lang="ro-RO" dirty="0" smtClean="0"/>
              <a:t>	b) a scăderii a două numere generate de la 0 la 100 (a-b, b-a)</a:t>
            </a:r>
          </a:p>
          <a:p>
            <a:pPr marL="342900" indent="-342900"/>
            <a:r>
              <a:rPr lang="ro-RO" dirty="0" smtClean="0"/>
              <a:t>	c) a înmulțirii a două numere generate de la 0 la 100 (a*b)</a:t>
            </a:r>
          </a:p>
          <a:p>
            <a:pPr marL="342900" indent="-342900"/>
            <a:endParaRPr lang="ro-RO" dirty="0" smtClean="0"/>
          </a:p>
          <a:p>
            <a:pPr marL="342900" indent="-342900"/>
            <a:r>
              <a:rPr lang="ro-RO" dirty="0" smtClean="0"/>
              <a:t>2.   Să se genereze 10 variante „</a:t>
            </a:r>
            <a:r>
              <a:rPr lang="ro-RO" b="1" dirty="0" smtClean="0"/>
              <a:t>Superloto 5 din 36</a:t>
            </a:r>
            <a:r>
              <a:rPr lang="ro-RO" dirty="0" smtClean="0"/>
              <a:t>”.</a:t>
            </a:r>
          </a:p>
          <a:p>
            <a:pPr marL="342900" indent="-342900"/>
            <a:endParaRPr lang="ro-RO" dirty="0" smtClean="0"/>
          </a:p>
          <a:p>
            <a:pPr marL="342900" indent="-342900"/>
            <a:endParaRPr lang="ro-RO" dirty="0" smtClean="0"/>
          </a:p>
          <a:p>
            <a:pPr marL="342900" indent="-342900"/>
            <a:r>
              <a:rPr lang="ro-RO" dirty="0" smtClean="0"/>
              <a:t>3. Să se genereze un număr natural din 3 cifre, divizibil cu  6 și cu 8.</a:t>
            </a:r>
          </a:p>
          <a:p>
            <a:pPr marL="342900" indent="-342900"/>
            <a:endParaRPr lang="ro-RO" dirty="0" smtClean="0"/>
          </a:p>
          <a:p>
            <a:pPr marL="342900" indent="-342900">
              <a:buAutoNum type="arabicPeriod" startAt="4"/>
            </a:pPr>
            <a:r>
              <a:rPr lang="ro-RO" dirty="0" smtClean="0"/>
              <a:t>Să se modeleze jocul „</a:t>
            </a:r>
            <a:r>
              <a:rPr lang="ro-RO" b="1" dirty="0" smtClean="0"/>
              <a:t>Vreau să fiu milionar</a:t>
            </a:r>
            <a:r>
              <a:rPr lang="ro-RO" dirty="0" smtClean="0"/>
              <a:t>” pentru 5 teme și 10 întrebări pentru fiecare temă.</a:t>
            </a:r>
          </a:p>
          <a:p>
            <a:pPr marL="342900" indent="-342900">
              <a:buAutoNum type="arabicPeriod" startAt="4"/>
            </a:pPr>
            <a:endParaRPr lang="ro-RO" dirty="0"/>
          </a:p>
          <a:p>
            <a:pPr marL="342900" indent="-342900">
              <a:buAutoNum type="arabicPeriod" startAt="4"/>
            </a:pPr>
            <a:endParaRPr lang="ro-RO" dirty="0" smtClean="0"/>
          </a:p>
          <a:p>
            <a:r>
              <a:rPr lang="ro-RO" b="1" dirty="0" smtClean="0"/>
              <a:t>NOTĂ</a:t>
            </a:r>
            <a:r>
              <a:rPr lang="ro-RO" dirty="0" smtClean="0"/>
              <a:t>: Problemele 1-3 (pentru nota 8), Problemele 1-4 (pentru nota 9-10)</a:t>
            </a:r>
            <a:endParaRPr lang="ru-RU" dirty="0"/>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1211</TotalTime>
  <Words>528</Words>
  <Application>Microsoft Office PowerPoint</Application>
  <PresentationFormat>On-screen Show (4:3)</PresentationFormat>
  <Paragraphs>127</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Тема Office</vt:lpstr>
      <vt:lpstr>FUNCȚII în PYTHON - Universul modulelor (Random, Randint, Choice, Seed)  </vt:lpstr>
      <vt:lpstr>UNIVERSUL MODULELOR </vt:lpstr>
      <vt:lpstr>MODULUL RANDOM</vt:lpstr>
      <vt:lpstr>MODULUL RANDOM- funcţia RANDOM</vt:lpstr>
      <vt:lpstr>MODULUL RANDOM- funcţia RANDOM</vt:lpstr>
      <vt:lpstr>MODULUL RANDOM- funcţia RANDOM</vt:lpstr>
      <vt:lpstr>MODULUL RANDOM- funcţia RANDOM</vt:lpstr>
      <vt:lpstr>MODULUL RANDOM- funcţia RANDOM</vt:lpstr>
      <vt:lpstr>MODULUL RANDOM- funcţia RANDINT</vt:lpstr>
      <vt:lpstr>MODULUL RANDOM- funcţia CHOICE</vt:lpstr>
      <vt:lpstr>MODULUL RANDOM- funcţia SEED</vt:lpstr>
      <vt:lpstr>MODULUL RANDOM- funcţia SEED</vt:lpstr>
      <vt:lpstr>MAI MULTE MODULE</vt:lpstr>
      <vt:lpstr>Lista modulelor din biblioteca  PYTHON standard</vt:lpstr>
      <vt:lpstr>LECȚII PRACTICE *11/18.10.2025</vt:lpstr>
      <vt:lpstr>TEMĂ PENTRU ACASĂ *03/04.11.2025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Пользователь</dc:creator>
  <cp:lastModifiedBy>ACER_BVN</cp:lastModifiedBy>
  <cp:revision>134</cp:revision>
  <dcterms:created xsi:type="dcterms:W3CDTF">2020-09-11T06:42:56Z</dcterms:created>
  <dcterms:modified xsi:type="dcterms:W3CDTF">2025-11-04T06:43:44Z</dcterms:modified>
</cp:coreProperties>
</file>